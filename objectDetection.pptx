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embeddedFontLst>
    <p:embeddedFont>
      <p:font typeface="Noto Sans" panose="020B0502040504020204" pitchFamily="34" charset="0"/>
      <p:regular r:id="rId14"/>
      <p:bold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3316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promise: real-time detection and tracking. Point to the mock overlay and set up architecture, results,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motivation: speed, scale, reliability. Transition to measurable objectives.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two measurable goals: accuracy and speed. Scope keeps the demo focused.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pipeline left to right. Call out NMS as the de-duplication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Justify choices: accuracy vs latency tradeoff drives YOLO/SSD selection.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augmentation and split discipline as the source of generalization.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losses matter equally. Thresholds are the main precision/recall dials.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separation of concerns; each module is independently testable.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about placeholders. Explain threshold tuning tradeoff.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mock frame with real screenshots/clips. Narrate an edge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roadmap and invite questions. Offer live demo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svg"/><Relationship Id="rId4" Type="http://schemas.openxmlformats.org/officeDocument/2006/relationships/image" Target="../media/image2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45720" y="86"/>
            <a:ext cx="12191695" cy="6857829"/>
          </a:xfrm>
          <a:prstGeom prst="rect">
            <a:avLst/>
          </a:prstGeom>
          <a:solidFill>
            <a:srgbClr val="081120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Shape 8"/>
          <p:cNvSpPr/>
          <p:nvPr/>
        </p:nvSpPr>
        <p:spPr>
          <a:xfrm>
            <a:off x="609585" y="819910"/>
            <a:ext cx="279393" cy="63498"/>
          </a:xfrm>
          <a:prstGeom prst="rect">
            <a:avLst/>
          </a:prstGeom>
          <a:solidFill>
            <a:srgbClr val="00E5CC"/>
          </a:solidFill>
          <a:ln/>
        </p:spPr>
      </p:sp>
      <p:sp>
        <p:nvSpPr>
          <p:cNvPr id="5" name="TextBox 9"/>
          <p:cNvSpPr/>
          <p:nvPr/>
        </p:nvSpPr>
        <p:spPr>
          <a:xfrm>
            <a:off x="977876" y="741231"/>
            <a:ext cx="5118124" cy="202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b="1" kern="0" spc="168" dirty="0">
                <a:solidFill>
                  <a:srgbClr val="00E5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COMPUTER VISION PROJECT · SEPTEMBER 2026</a:t>
            </a:r>
            <a:endParaRPr lang="en-US" sz="1200" dirty="0"/>
          </a:p>
        </p:txBody>
      </p:sp>
      <p:sp>
        <p:nvSpPr>
          <p:cNvPr id="6" name="TextBox 11"/>
          <p:cNvSpPr/>
          <p:nvPr/>
        </p:nvSpPr>
        <p:spPr>
          <a:xfrm>
            <a:off x="609585" y="1127282"/>
            <a:ext cx="6053581" cy="20573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5400" b="1" kern="0" spc="-10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Real-Time AI Object Detection System</a:t>
            </a:r>
            <a:endParaRPr lang="en-US" sz="5400" dirty="0"/>
          </a:p>
        </p:txBody>
      </p:sp>
      <p:sp>
        <p:nvSpPr>
          <p:cNvPr id="7" name="Shape 13"/>
          <p:cNvSpPr/>
          <p:nvPr/>
        </p:nvSpPr>
        <p:spPr>
          <a:xfrm>
            <a:off x="609585" y="3362426"/>
            <a:ext cx="761981" cy="50799"/>
          </a:xfrm>
          <a:prstGeom prst="rect">
            <a:avLst/>
          </a:prstGeom>
          <a:solidFill>
            <a:srgbClr val="00E5CC"/>
          </a:solidFill>
          <a:ln/>
        </p:spPr>
      </p:sp>
      <p:sp>
        <p:nvSpPr>
          <p:cNvPr id="8" name="TextBox 15"/>
          <p:cNvSpPr/>
          <p:nvPr/>
        </p:nvSpPr>
        <p:spPr>
          <a:xfrm>
            <a:off x="609585" y="3591020"/>
            <a:ext cx="5714857" cy="9941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610"/>
              </a:lnSpc>
              <a:buNone/>
            </a:pPr>
            <a:r>
              <a:rPr lang="en-US" sz="1800" dirty="0">
                <a:solidFill>
                  <a:srgbClr val="B9C4D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Architecture, Implementation, and Results — detect, classify, and track objects in image and video streams.</a:t>
            </a:r>
            <a:endParaRPr lang="en-US" sz="1800" dirty="0"/>
          </a:p>
        </p:txBody>
      </p:sp>
      <p:sp>
        <p:nvSpPr>
          <p:cNvPr id="9" name="TextBox 19"/>
          <p:cNvSpPr/>
          <p:nvPr/>
        </p:nvSpPr>
        <p:spPr>
          <a:xfrm>
            <a:off x="609585" y="4864560"/>
            <a:ext cx="1390714" cy="330192"/>
          </a:xfrm>
          <a:prstGeom prst="roundRect">
            <a:avLst>
              <a:gd name="adj" fmla="val 50000"/>
            </a:avLst>
          </a:prstGeom>
          <a:solidFill>
            <a:srgbClr val="00E5CC"/>
          </a:solidFill>
          <a:ln/>
        </p:spPr>
        <p:txBody>
          <a:bodyPr wrap="square" lIns="139697" tIns="38099" rIns="139697" bIns="38099" rtlCol="0" anchor="ctr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6281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Live at 30+ FPS</a:t>
            </a:r>
            <a:endParaRPr lang="en-US" sz="1200" dirty="0"/>
          </a:p>
        </p:txBody>
      </p:sp>
      <p:sp>
        <p:nvSpPr>
          <p:cNvPr id="10" name="TextBox 21"/>
          <p:cNvSpPr/>
          <p:nvPr/>
        </p:nvSpPr>
        <p:spPr>
          <a:xfrm>
            <a:off x="2114596" y="4864560"/>
            <a:ext cx="1593513" cy="33019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D557F"/>
            </a:solidFill>
            <a:prstDash val="solid"/>
          </a:ln>
        </p:spPr>
        <p:txBody>
          <a:bodyPr wrap="square" lIns="139697" tIns="38099" rIns="139697" bIns="38099" rtlCol="0" anchor="ctr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9C4D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YOLO · SSD · CNN</a:t>
            </a:r>
            <a:endParaRPr lang="en-US" sz="1200" dirty="0"/>
          </a:p>
        </p:txBody>
      </p:sp>
      <p:sp>
        <p:nvSpPr>
          <p:cNvPr id="11" name="TextBox 23"/>
          <p:cNvSpPr/>
          <p:nvPr/>
        </p:nvSpPr>
        <p:spPr>
          <a:xfrm>
            <a:off x="3822406" y="4864560"/>
            <a:ext cx="1618515" cy="33019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D557F"/>
            </a:solidFill>
            <a:prstDash val="solid"/>
          </a:ln>
        </p:spPr>
        <p:txBody>
          <a:bodyPr wrap="square" lIns="139697" tIns="38099" rIns="139697" bIns="38099" rtlCol="0" anchor="ctr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9C4D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Python + OpenCV</a:t>
            </a:r>
            <a:endParaRPr lang="en-US" sz="1200" dirty="0"/>
          </a:p>
        </p:txBody>
      </p:sp>
      <p:sp>
        <p:nvSpPr>
          <p:cNvPr id="12" name="TextBox 29"/>
          <p:cNvSpPr/>
          <p:nvPr/>
        </p:nvSpPr>
        <p:spPr>
          <a:xfrm>
            <a:off x="609585" y="5550343"/>
            <a:ext cx="2658897" cy="220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b="1" kern="0" spc="144" dirty="0">
                <a:solidFill>
                  <a:srgbClr val="B9C4D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PRESENTED BY</a:t>
            </a:r>
            <a:endParaRPr lang="en-US" sz="1200" dirty="0"/>
          </a:p>
        </p:txBody>
      </p:sp>
      <p:sp>
        <p:nvSpPr>
          <p:cNvPr id="13" name="TextBox 30"/>
          <p:cNvSpPr/>
          <p:nvPr/>
        </p:nvSpPr>
        <p:spPr>
          <a:xfrm>
            <a:off x="609585" y="5822096"/>
            <a:ext cx="2658897" cy="27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Shivam Gupta</a:t>
            </a:r>
            <a:endParaRPr lang="en-US" sz="1600" dirty="0"/>
          </a:p>
        </p:txBody>
      </p:sp>
      <p:sp>
        <p:nvSpPr>
          <p:cNvPr id="14" name="TextBox 33"/>
          <p:cNvSpPr/>
          <p:nvPr/>
        </p:nvSpPr>
        <p:spPr>
          <a:xfrm>
            <a:off x="3649472" y="5550343"/>
            <a:ext cx="1627246" cy="220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b="1" kern="0" spc="144" dirty="0">
                <a:solidFill>
                  <a:srgbClr val="B9C4D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DATE</a:t>
            </a:r>
            <a:endParaRPr lang="en-US" sz="1200" dirty="0"/>
          </a:p>
        </p:txBody>
      </p:sp>
      <p:sp>
        <p:nvSpPr>
          <p:cNvPr id="15" name="TextBox 34"/>
          <p:cNvSpPr/>
          <p:nvPr/>
        </p:nvSpPr>
        <p:spPr>
          <a:xfrm>
            <a:off x="3649472" y="5822096"/>
            <a:ext cx="1627246" cy="294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September 2026</a:t>
            </a:r>
            <a:endParaRPr lang="en-US" sz="1600" dirty="0"/>
          </a:p>
        </p:txBody>
      </p:sp>
      <p:sp>
        <p:nvSpPr>
          <p:cNvPr id="16" name="Shape 40"/>
          <p:cNvSpPr/>
          <p:nvPr/>
        </p:nvSpPr>
        <p:spPr>
          <a:xfrm>
            <a:off x="7107655" y="1125297"/>
            <a:ext cx="4474455" cy="4063898"/>
          </a:xfrm>
          <a:prstGeom prst="rect">
            <a:avLst/>
          </a:prstGeom>
          <a:solidFill>
            <a:srgbClr val="0D1C38"/>
          </a:solidFill>
          <a:ln w="19050">
            <a:solidFill>
              <a:srgbClr val="3D557F"/>
            </a:solidFill>
            <a:prstDash val="solid"/>
          </a:ln>
        </p:spPr>
      </p:sp>
      <p:sp>
        <p:nvSpPr>
          <p:cNvPr id="17" name="Shape 42"/>
          <p:cNvSpPr/>
          <p:nvPr/>
        </p:nvSpPr>
        <p:spPr>
          <a:xfrm>
            <a:off x="7698190" y="1906328"/>
            <a:ext cx="1904952" cy="2285943"/>
          </a:xfrm>
          <a:prstGeom prst="roundRect">
            <a:avLst>
              <a:gd name="adj" fmla="val 2000"/>
            </a:avLst>
          </a:prstGeom>
          <a:noFill/>
          <a:ln w="31749">
            <a:solidFill>
              <a:srgbClr val="00E5CC"/>
            </a:solidFill>
            <a:prstDash val="solid"/>
          </a:ln>
        </p:spPr>
      </p:sp>
      <p:sp>
        <p:nvSpPr>
          <p:cNvPr id="18" name="TextBox 43"/>
          <p:cNvSpPr/>
          <p:nvPr/>
        </p:nvSpPr>
        <p:spPr>
          <a:xfrm>
            <a:off x="7698190" y="1607885"/>
            <a:ext cx="1136026" cy="292093"/>
          </a:xfrm>
          <a:prstGeom prst="roundRect">
            <a:avLst>
              <a:gd name="adj" fmla="val 13043"/>
            </a:avLst>
          </a:prstGeom>
          <a:solidFill>
            <a:srgbClr val="00E5CC"/>
          </a:solidFill>
          <a:ln/>
        </p:spPr>
        <p:txBody>
          <a:bodyPr wrap="none" lIns="88898" tIns="38099" rIns="88898" bIns="38099" rtlCol="0" anchor="t">
            <a:sp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6281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Person: 94%</a:t>
            </a:r>
            <a:endParaRPr lang="en-US" sz="1250" dirty="0"/>
          </a:p>
        </p:txBody>
      </p:sp>
      <p:sp>
        <p:nvSpPr>
          <p:cNvPr id="19" name="Shape 45"/>
          <p:cNvSpPr/>
          <p:nvPr/>
        </p:nvSpPr>
        <p:spPr>
          <a:xfrm>
            <a:off x="9666641" y="3049299"/>
            <a:ext cx="1269968" cy="1142971"/>
          </a:xfrm>
          <a:prstGeom prst="roundRect">
            <a:avLst>
              <a:gd name="adj" fmla="val 3333"/>
            </a:avLst>
          </a:prstGeom>
          <a:noFill/>
          <a:ln w="31749">
            <a:solidFill>
              <a:srgbClr val="FFB224"/>
            </a:solidFill>
            <a:prstDash val="solid"/>
          </a:ln>
        </p:spPr>
      </p:sp>
      <p:sp>
        <p:nvSpPr>
          <p:cNvPr id="20" name="TextBox 46"/>
          <p:cNvSpPr/>
          <p:nvPr/>
        </p:nvSpPr>
        <p:spPr>
          <a:xfrm>
            <a:off x="9666641" y="2750857"/>
            <a:ext cx="858122" cy="292093"/>
          </a:xfrm>
          <a:prstGeom prst="roundRect">
            <a:avLst>
              <a:gd name="adj" fmla="val 13043"/>
            </a:avLst>
          </a:prstGeom>
          <a:solidFill>
            <a:srgbClr val="FFB224"/>
          </a:solidFill>
          <a:ln/>
        </p:spPr>
        <p:txBody>
          <a:bodyPr wrap="none" lIns="88898" tIns="38099" rIns="88898" bIns="38099" rtlCol="0" anchor="t">
            <a:sp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3A24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Car: 89%</a:t>
            </a:r>
            <a:endParaRPr lang="en-US" sz="1250" dirty="0"/>
          </a:p>
        </p:txBody>
      </p:sp>
      <p:sp>
        <p:nvSpPr>
          <p:cNvPr id="21" name="Shape 48"/>
          <p:cNvSpPr/>
          <p:nvPr/>
        </p:nvSpPr>
        <p:spPr>
          <a:xfrm>
            <a:off x="8269676" y="3811280"/>
            <a:ext cx="1015975" cy="761981"/>
          </a:xfrm>
          <a:prstGeom prst="roundRect">
            <a:avLst>
              <a:gd name="adj" fmla="val 5000"/>
            </a:avLst>
          </a:prstGeom>
          <a:noFill/>
          <a:ln w="31749">
            <a:solidFill>
              <a:srgbClr val="7C8CFF"/>
            </a:solidFill>
            <a:prstDash val="solid"/>
          </a:ln>
        </p:spPr>
      </p:sp>
      <p:sp>
        <p:nvSpPr>
          <p:cNvPr id="22" name="TextBox 49"/>
          <p:cNvSpPr/>
          <p:nvPr/>
        </p:nvSpPr>
        <p:spPr>
          <a:xfrm>
            <a:off x="8269676" y="3512838"/>
            <a:ext cx="1315707" cy="292093"/>
          </a:xfrm>
          <a:prstGeom prst="roundRect">
            <a:avLst>
              <a:gd name="adj" fmla="val 13043"/>
            </a:avLst>
          </a:prstGeom>
          <a:solidFill>
            <a:srgbClr val="7C8CFF"/>
          </a:solidFill>
          <a:ln/>
        </p:spPr>
        <p:txBody>
          <a:bodyPr wrap="none" lIns="88898" tIns="38099" rIns="88898" bIns="38099" rtlCol="0" anchor="t">
            <a:sp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0173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ID 07 · tracked</a:t>
            </a:r>
            <a:endParaRPr lang="en-US" sz="1250" dirty="0"/>
          </a:p>
        </p:txBody>
      </p:sp>
      <p:sp>
        <p:nvSpPr>
          <p:cNvPr id="23" name="TextBox 53"/>
          <p:cNvSpPr/>
          <p:nvPr/>
        </p:nvSpPr>
        <p:spPr>
          <a:xfrm>
            <a:off x="7162800" y="4704938"/>
            <a:ext cx="1424940" cy="346231"/>
          </a:xfrm>
          <a:prstGeom prst="roundRect">
            <a:avLst>
              <a:gd name="adj" fmla="val 50000"/>
            </a:avLst>
          </a:prstGeom>
          <a:solidFill>
            <a:srgbClr val="00E5CC"/>
          </a:solidFill>
          <a:ln/>
        </p:spPr>
        <p:txBody>
          <a:bodyPr wrap="square" lIns="139697" tIns="38099" rIns="139697" bIns="38099" rtlCol="0" anchor="ctr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6281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REC · 32 FPS</a:t>
            </a:r>
            <a:endParaRPr lang="en-US" sz="1100" dirty="0"/>
          </a:p>
        </p:txBody>
      </p:sp>
      <p:sp>
        <p:nvSpPr>
          <p:cNvPr id="24" name="TextBox 55"/>
          <p:cNvSpPr/>
          <p:nvPr/>
        </p:nvSpPr>
        <p:spPr>
          <a:xfrm>
            <a:off x="8842877" y="4773281"/>
            <a:ext cx="2307274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9C4D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640 × 640 · conf 0.50 · NMS 0.45</a:t>
            </a:r>
            <a:endParaRPr lang="en-US" sz="1200" dirty="0"/>
          </a:p>
        </p:txBody>
      </p:sp>
      <p:sp>
        <p:nvSpPr>
          <p:cNvPr id="25" name="TextBox 59"/>
          <p:cNvSpPr/>
          <p:nvPr/>
        </p:nvSpPr>
        <p:spPr>
          <a:xfrm>
            <a:off x="7107655" y="5290793"/>
            <a:ext cx="4474455" cy="441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B9C4D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Live inference overlay — bounding boxes, labels, confidence, tracking IDs.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86"/>
            <a:ext cx="12191695" cy="6857829"/>
          </a:xfrm>
          <a:prstGeom prst="rect">
            <a:avLst/>
          </a:prstGeom>
          <a:solidFill>
            <a:srgbClr val="081120"/>
          </a:solidFill>
          <a:ln/>
        </p:spPr>
      </p:sp>
      <p:sp>
        <p:nvSpPr>
          <p:cNvPr id="4" name="Shape 6"/>
          <p:cNvSpPr/>
          <p:nvPr/>
        </p:nvSpPr>
        <p:spPr>
          <a:xfrm>
            <a:off x="609585" y="535953"/>
            <a:ext cx="279393" cy="63498"/>
          </a:xfrm>
          <a:prstGeom prst="rect">
            <a:avLst/>
          </a:prstGeom>
          <a:solidFill>
            <a:srgbClr val="00E5CC"/>
          </a:solidFill>
          <a:ln/>
        </p:spPr>
      </p:sp>
      <p:sp>
        <p:nvSpPr>
          <p:cNvPr id="5" name="TextBox 7"/>
          <p:cNvSpPr/>
          <p:nvPr/>
        </p:nvSpPr>
        <p:spPr>
          <a:xfrm>
            <a:off x="977876" y="457274"/>
            <a:ext cx="4461871" cy="202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b="1" kern="0" spc="168" dirty="0">
                <a:solidFill>
                  <a:srgbClr val="00E5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 · PROJECT OVERVIEW &amp; MOTIVATION</a:t>
            </a:r>
            <a:endParaRPr lang="en-US" sz="1200" dirty="0"/>
          </a:p>
        </p:txBody>
      </p:sp>
      <p:sp>
        <p:nvSpPr>
          <p:cNvPr id="6" name="TextBox 9"/>
          <p:cNvSpPr/>
          <p:nvPr/>
        </p:nvSpPr>
        <p:spPr>
          <a:xfrm>
            <a:off x="609585" y="843325"/>
            <a:ext cx="9397765" cy="438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456"/>
              </a:lnSpc>
              <a:buNone/>
            </a:pPr>
            <a:r>
              <a:rPr lang="en-US" sz="3200" b="1" kern="0" spc="-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From manual inspection to automated vision</a:t>
            </a:r>
            <a:endParaRPr lang="en-US" sz="3200" dirty="0"/>
          </a:p>
        </p:txBody>
      </p:sp>
      <p:sp>
        <p:nvSpPr>
          <p:cNvPr id="7" name="Shape 13"/>
          <p:cNvSpPr/>
          <p:nvPr/>
        </p:nvSpPr>
        <p:spPr>
          <a:xfrm>
            <a:off x="609585" y="1612350"/>
            <a:ext cx="3505112" cy="2172737"/>
          </a:xfrm>
          <a:prstGeom prst="roundRect">
            <a:avLst>
              <a:gd name="adj" fmla="val 4092"/>
            </a:avLst>
          </a:prstGeom>
          <a:solidFill>
            <a:srgbClr val="12213D"/>
          </a:solidFill>
          <a:ln/>
        </p:spPr>
      </p:sp>
      <p:pic>
        <p:nvPicPr>
          <p:cNvPr id="8" name="Picture 13" descr="__type_imag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585" y="1612350"/>
            <a:ext cx="3505112" cy="2172737"/>
          </a:xfrm>
          <a:prstGeom prst="rect">
            <a:avLst/>
          </a:prstGeom>
        </p:spPr>
      </p:pic>
      <p:sp>
        <p:nvSpPr>
          <p:cNvPr id="9" name="TextBox 14"/>
          <p:cNvSpPr/>
          <p:nvPr/>
        </p:nvSpPr>
        <p:spPr>
          <a:xfrm>
            <a:off x="863578" y="1891743"/>
            <a:ext cx="2997125" cy="248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57"/>
              </a:lnSpc>
              <a:buNone/>
            </a:pPr>
            <a:r>
              <a:rPr lang="en-US" sz="1350" b="1" kern="0" spc="162" dirty="0">
                <a:solidFill>
                  <a:srgbClr val="B9C4D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PROJECT SUMMARY</a:t>
            </a:r>
            <a:endParaRPr lang="en-US" sz="1350" dirty="0"/>
          </a:p>
        </p:txBody>
      </p:sp>
      <p:sp>
        <p:nvSpPr>
          <p:cNvPr id="10" name="TextBox 15"/>
          <p:cNvSpPr/>
          <p:nvPr/>
        </p:nvSpPr>
        <p:spPr>
          <a:xfrm>
            <a:off x="863578" y="2229178"/>
            <a:ext cx="2997125" cy="463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24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End-to-end detection + tracking</a:t>
            </a:r>
            <a:endParaRPr lang="en-US" sz="1600" dirty="0"/>
          </a:p>
        </p:txBody>
      </p:sp>
      <p:sp>
        <p:nvSpPr>
          <p:cNvPr id="11" name="TextBox 16"/>
          <p:cNvSpPr/>
          <p:nvPr/>
        </p:nvSpPr>
        <p:spPr>
          <a:xfrm>
            <a:off x="863578" y="2781217"/>
            <a:ext cx="2997125" cy="745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57"/>
              </a:lnSpc>
              <a:buNone/>
            </a:pPr>
            <a:r>
              <a:rPr lang="en-US" sz="1350" dirty="0">
                <a:solidFill>
                  <a:srgbClr val="B9C4D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Detect, classify, and track objects within image and video streams — frame in, labeled frame out.</a:t>
            </a:r>
            <a:endParaRPr lang="en-US" sz="1350" dirty="0"/>
          </a:p>
        </p:txBody>
      </p:sp>
      <p:sp>
        <p:nvSpPr>
          <p:cNvPr id="12" name="Shape 18"/>
          <p:cNvSpPr/>
          <p:nvPr/>
        </p:nvSpPr>
        <p:spPr>
          <a:xfrm>
            <a:off x="4343291" y="1612350"/>
            <a:ext cx="3505112" cy="2172737"/>
          </a:xfrm>
          <a:prstGeom prst="roundRect">
            <a:avLst>
              <a:gd name="adj" fmla="val 4092"/>
            </a:avLst>
          </a:prstGeom>
          <a:solidFill>
            <a:srgbClr val="12213D"/>
          </a:solidFill>
          <a:ln/>
        </p:spPr>
      </p:sp>
      <p:pic>
        <p:nvPicPr>
          <p:cNvPr id="13" name="Picture 18" descr="__type_imag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3291" y="1612350"/>
            <a:ext cx="3505112" cy="2172737"/>
          </a:xfrm>
          <a:prstGeom prst="rect">
            <a:avLst/>
          </a:prstGeom>
        </p:spPr>
      </p:pic>
      <p:sp>
        <p:nvSpPr>
          <p:cNvPr id="14" name="TextBox 19"/>
          <p:cNvSpPr/>
          <p:nvPr/>
        </p:nvSpPr>
        <p:spPr>
          <a:xfrm>
            <a:off x="4597285" y="1891743"/>
            <a:ext cx="2997125" cy="248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57"/>
              </a:lnSpc>
              <a:buNone/>
            </a:pPr>
            <a:r>
              <a:rPr lang="en-US" sz="1350" b="1" kern="0" spc="162" dirty="0">
                <a:solidFill>
                  <a:srgbClr val="B9C4D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PROBLEM</a:t>
            </a:r>
            <a:endParaRPr lang="en-US" sz="1350" dirty="0"/>
          </a:p>
        </p:txBody>
      </p:sp>
      <p:sp>
        <p:nvSpPr>
          <p:cNvPr id="15" name="TextBox 20"/>
          <p:cNvSpPr/>
          <p:nvPr/>
        </p:nvSpPr>
        <p:spPr>
          <a:xfrm>
            <a:off x="4597285" y="2229178"/>
            <a:ext cx="2997125" cy="2315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24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Manual ID is too slow</a:t>
            </a:r>
            <a:endParaRPr lang="en-US" sz="1600" dirty="0"/>
          </a:p>
        </p:txBody>
      </p:sp>
      <p:sp>
        <p:nvSpPr>
          <p:cNvPr id="16" name="TextBox 21"/>
          <p:cNvSpPr/>
          <p:nvPr/>
        </p:nvSpPr>
        <p:spPr>
          <a:xfrm>
            <a:off x="4597285" y="2549646"/>
            <a:ext cx="2997125" cy="9941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57"/>
              </a:lnSpc>
              <a:buNone/>
            </a:pPr>
            <a:r>
              <a:rPr lang="en-US" sz="1350" dirty="0">
                <a:solidFill>
                  <a:srgbClr val="B9C4D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Manual identification is slow, labor-intensive, and error-prone in automated, high-speed environments.</a:t>
            </a:r>
            <a:endParaRPr lang="en-US" sz="1350" dirty="0"/>
          </a:p>
        </p:txBody>
      </p:sp>
      <p:sp>
        <p:nvSpPr>
          <p:cNvPr id="17" name="Shape 23"/>
          <p:cNvSpPr/>
          <p:nvPr/>
        </p:nvSpPr>
        <p:spPr>
          <a:xfrm>
            <a:off x="8076998" y="1612350"/>
            <a:ext cx="3505112" cy="2172737"/>
          </a:xfrm>
          <a:prstGeom prst="roundRect">
            <a:avLst>
              <a:gd name="adj" fmla="val 4092"/>
            </a:avLst>
          </a:prstGeom>
          <a:solidFill>
            <a:srgbClr val="12213D"/>
          </a:solidFill>
          <a:ln/>
        </p:spPr>
      </p:sp>
      <p:pic>
        <p:nvPicPr>
          <p:cNvPr id="18" name="Picture 23" descr="__type_imag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76998" y="1612350"/>
            <a:ext cx="3505112" cy="2172737"/>
          </a:xfrm>
          <a:prstGeom prst="rect">
            <a:avLst/>
          </a:prstGeom>
        </p:spPr>
      </p:pic>
      <p:sp>
        <p:nvSpPr>
          <p:cNvPr id="19" name="TextBox 24"/>
          <p:cNvSpPr/>
          <p:nvPr/>
        </p:nvSpPr>
        <p:spPr>
          <a:xfrm>
            <a:off x="8330992" y="1891743"/>
            <a:ext cx="2997125" cy="248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57"/>
              </a:lnSpc>
              <a:buNone/>
            </a:pPr>
            <a:r>
              <a:rPr lang="en-US" sz="1350" b="1" kern="0" spc="162" dirty="0">
                <a:solidFill>
                  <a:srgbClr val="B9C4D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SOLUTION</a:t>
            </a:r>
            <a:endParaRPr lang="en-US" sz="1350" dirty="0"/>
          </a:p>
        </p:txBody>
      </p:sp>
      <p:sp>
        <p:nvSpPr>
          <p:cNvPr id="20" name="TextBox 25"/>
          <p:cNvSpPr/>
          <p:nvPr/>
        </p:nvSpPr>
        <p:spPr>
          <a:xfrm>
            <a:off x="8330992" y="2229178"/>
            <a:ext cx="2997125" cy="2315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24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Deep learning in real time</a:t>
            </a:r>
            <a:endParaRPr lang="en-US" sz="1600" dirty="0"/>
          </a:p>
        </p:txBody>
      </p:sp>
      <p:sp>
        <p:nvSpPr>
          <p:cNvPr id="21" name="TextBox 26"/>
          <p:cNvSpPr/>
          <p:nvPr/>
        </p:nvSpPr>
        <p:spPr>
          <a:xfrm>
            <a:off x="8330992" y="2549646"/>
            <a:ext cx="2997125" cy="745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57"/>
              </a:lnSpc>
              <a:buNone/>
            </a:pPr>
            <a:r>
              <a:rPr lang="en-US" sz="1350" dirty="0">
                <a:solidFill>
                  <a:srgbClr val="B9C4D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Deep learning architectures automate high-accuracy detection and tracking in real time.</a:t>
            </a:r>
            <a:endParaRPr lang="en-US" sz="1350" dirty="0"/>
          </a:p>
        </p:txBody>
      </p:sp>
      <p:sp>
        <p:nvSpPr>
          <p:cNvPr id="22" name="Shape 29"/>
          <p:cNvSpPr/>
          <p:nvPr/>
        </p:nvSpPr>
        <p:spPr>
          <a:xfrm>
            <a:off x="609585" y="4013681"/>
            <a:ext cx="10972526" cy="1035024"/>
          </a:xfrm>
          <a:prstGeom prst="roundRect">
            <a:avLst>
              <a:gd name="adj" fmla="val 8589"/>
            </a:avLst>
          </a:prstGeom>
          <a:solidFill>
            <a:srgbClr val="12213D"/>
          </a:solidFill>
          <a:ln w="12700">
            <a:solidFill>
              <a:srgbClr val="2A3D63"/>
            </a:solidFill>
            <a:prstDash val="solid"/>
          </a:ln>
        </p:spPr>
      </p:sp>
      <p:sp>
        <p:nvSpPr>
          <p:cNvPr id="23" name="TextBox 31"/>
          <p:cNvSpPr/>
          <p:nvPr/>
        </p:nvSpPr>
        <p:spPr>
          <a:xfrm>
            <a:off x="863578" y="4254975"/>
            <a:ext cx="8318193" cy="552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B9C4D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Why it matters:</a:t>
            </a:r>
            <a:r>
              <a:rPr lang="en-US" sz="1500" dirty="0">
                <a:solidFill>
                  <a:srgbClr val="B9C4D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fewer misses, fewer false alarms, and consistent speed no human operator can sustain.</a:t>
            </a:r>
            <a:endParaRPr lang="en-US" sz="1500" dirty="0"/>
          </a:p>
        </p:txBody>
      </p:sp>
      <p:sp>
        <p:nvSpPr>
          <p:cNvPr id="24" name="TextBox 33"/>
          <p:cNvSpPr/>
          <p:nvPr/>
        </p:nvSpPr>
        <p:spPr>
          <a:xfrm>
            <a:off x="9288780" y="4347258"/>
            <a:ext cx="2232659" cy="367871"/>
          </a:xfrm>
          <a:prstGeom prst="roundRect">
            <a:avLst>
              <a:gd name="adj" fmla="val 50000"/>
            </a:avLst>
          </a:prstGeom>
          <a:solidFill>
            <a:srgbClr val="00E5CC"/>
          </a:solidFill>
          <a:ln/>
        </p:spPr>
        <p:txBody>
          <a:bodyPr wrap="square" lIns="139697" tIns="38099" rIns="139697" bIns="38099" rtlCol="0" anchor="ctr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6281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Image · Video · Webcam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86"/>
            <a:ext cx="12191695" cy="6857829"/>
          </a:xfrm>
          <a:prstGeom prst="rect">
            <a:avLst/>
          </a:prstGeom>
          <a:solidFill>
            <a:srgbClr val="081120"/>
          </a:solidFill>
          <a:ln/>
        </p:spPr>
      </p:sp>
      <p:sp>
        <p:nvSpPr>
          <p:cNvPr id="4" name="Shape 8"/>
          <p:cNvSpPr/>
          <p:nvPr/>
        </p:nvSpPr>
        <p:spPr>
          <a:xfrm>
            <a:off x="609585" y="535953"/>
            <a:ext cx="279393" cy="63498"/>
          </a:xfrm>
          <a:prstGeom prst="rect">
            <a:avLst/>
          </a:prstGeom>
          <a:solidFill>
            <a:srgbClr val="00E5CC"/>
          </a:solidFill>
          <a:ln/>
        </p:spPr>
      </p:sp>
      <p:sp>
        <p:nvSpPr>
          <p:cNvPr id="5" name="TextBox 9"/>
          <p:cNvSpPr/>
          <p:nvPr/>
        </p:nvSpPr>
        <p:spPr>
          <a:xfrm>
            <a:off x="977876" y="457274"/>
            <a:ext cx="3379520" cy="202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b="1" kern="0" spc="168" dirty="0">
                <a:solidFill>
                  <a:srgbClr val="00E5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 · OBJECTIVES &amp; SCOPE</a:t>
            </a:r>
            <a:endParaRPr lang="en-US" sz="1200" dirty="0"/>
          </a:p>
        </p:txBody>
      </p:sp>
      <p:sp>
        <p:nvSpPr>
          <p:cNvPr id="6" name="TextBox 11"/>
          <p:cNvSpPr/>
          <p:nvPr/>
        </p:nvSpPr>
        <p:spPr>
          <a:xfrm>
            <a:off x="609585" y="843325"/>
            <a:ext cx="5308467" cy="438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456"/>
              </a:lnSpc>
              <a:buNone/>
            </a:pPr>
            <a:r>
              <a:rPr lang="en-US" sz="3200" b="1" kern="0" spc="-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What success looks like</a:t>
            </a:r>
            <a:endParaRPr lang="en-US" sz="3200" dirty="0"/>
          </a:p>
        </p:txBody>
      </p:sp>
      <p:sp>
        <p:nvSpPr>
          <p:cNvPr id="7" name="Shape 15"/>
          <p:cNvSpPr/>
          <p:nvPr/>
        </p:nvSpPr>
        <p:spPr>
          <a:xfrm>
            <a:off x="609585" y="1561551"/>
            <a:ext cx="2539936" cy="1834410"/>
          </a:xfrm>
          <a:prstGeom prst="roundRect">
            <a:avLst>
              <a:gd name="adj" fmla="val 4846"/>
            </a:avLst>
          </a:prstGeom>
          <a:solidFill>
            <a:srgbClr val="12213D"/>
          </a:solidFill>
          <a:ln/>
        </p:spPr>
      </p:sp>
      <p:pic>
        <p:nvPicPr>
          <p:cNvPr id="8" name="Picture 15" descr="__type_imag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585" y="1561551"/>
            <a:ext cx="2539936" cy="1834410"/>
          </a:xfrm>
          <a:prstGeom prst="rect">
            <a:avLst/>
          </a:prstGeom>
        </p:spPr>
      </p:pic>
      <p:sp>
        <p:nvSpPr>
          <p:cNvPr id="9" name="TextBox 16"/>
          <p:cNvSpPr/>
          <p:nvPr/>
        </p:nvSpPr>
        <p:spPr>
          <a:xfrm>
            <a:off x="863578" y="1840944"/>
            <a:ext cx="2031949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B9C4D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mAP+</a:t>
            </a:r>
            <a:endParaRPr lang="en-US" sz="1350" dirty="0"/>
          </a:p>
        </p:txBody>
      </p:sp>
      <p:sp>
        <p:nvSpPr>
          <p:cNvPr id="10" name="TextBox 17"/>
          <p:cNvSpPr/>
          <p:nvPr/>
        </p:nvSpPr>
        <p:spPr>
          <a:xfrm>
            <a:off x="863578" y="2088588"/>
            <a:ext cx="2031949" cy="2315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24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High accuracy</a:t>
            </a:r>
            <a:endParaRPr lang="en-US" sz="1600" dirty="0"/>
          </a:p>
        </p:txBody>
      </p:sp>
      <p:sp>
        <p:nvSpPr>
          <p:cNvPr id="11" name="TextBox 18"/>
          <p:cNvSpPr/>
          <p:nvPr/>
        </p:nvSpPr>
        <p:spPr>
          <a:xfrm>
            <a:off x="863578" y="2409057"/>
            <a:ext cx="2031949" cy="745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57"/>
              </a:lnSpc>
              <a:buNone/>
            </a:pPr>
            <a:r>
              <a:rPr lang="en-US" sz="1350" dirty="0">
                <a:solidFill>
                  <a:srgbClr val="B9C4D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Achieve high mean Average Precision across target classes.</a:t>
            </a:r>
            <a:endParaRPr lang="en-US" sz="1350" dirty="0"/>
          </a:p>
        </p:txBody>
      </p:sp>
      <p:sp>
        <p:nvSpPr>
          <p:cNvPr id="12" name="Shape 20"/>
          <p:cNvSpPr/>
          <p:nvPr/>
        </p:nvSpPr>
        <p:spPr>
          <a:xfrm>
            <a:off x="3378116" y="1561551"/>
            <a:ext cx="2539936" cy="1834410"/>
          </a:xfrm>
          <a:prstGeom prst="roundRect">
            <a:avLst>
              <a:gd name="adj" fmla="val 4846"/>
            </a:avLst>
          </a:prstGeom>
          <a:solidFill>
            <a:srgbClr val="12213D"/>
          </a:solidFill>
          <a:ln/>
        </p:spPr>
      </p:sp>
      <p:pic>
        <p:nvPicPr>
          <p:cNvPr id="13" name="Picture 20" descr="__type_imag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78116" y="1561551"/>
            <a:ext cx="2539936" cy="1834410"/>
          </a:xfrm>
          <a:prstGeom prst="rect">
            <a:avLst/>
          </a:prstGeom>
        </p:spPr>
      </p:pic>
      <p:sp>
        <p:nvSpPr>
          <p:cNvPr id="14" name="TextBox 21"/>
          <p:cNvSpPr/>
          <p:nvPr/>
        </p:nvSpPr>
        <p:spPr>
          <a:xfrm>
            <a:off x="3632109" y="1840944"/>
            <a:ext cx="2031949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B9C4D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30+</a:t>
            </a:r>
            <a:endParaRPr lang="en-US" sz="1350" dirty="0"/>
          </a:p>
        </p:txBody>
      </p:sp>
      <p:sp>
        <p:nvSpPr>
          <p:cNvPr id="15" name="TextBox 22"/>
          <p:cNvSpPr/>
          <p:nvPr/>
        </p:nvSpPr>
        <p:spPr>
          <a:xfrm>
            <a:off x="3632109" y="2088588"/>
            <a:ext cx="2031949" cy="2315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24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FPS, real time</a:t>
            </a:r>
            <a:endParaRPr lang="en-US" sz="1600" dirty="0"/>
          </a:p>
        </p:txBody>
      </p:sp>
      <p:sp>
        <p:nvSpPr>
          <p:cNvPr id="16" name="TextBox 23"/>
          <p:cNvSpPr/>
          <p:nvPr/>
        </p:nvSpPr>
        <p:spPr>
          <a:xfrm>
            <a:off x="3632109" y="2409057"/>
            <a:ext cx="2031949" cy="745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57"/>
              </a:lnSpc>
              <a:buNone/>
            </a:pPr>
            <a:r>
              <a:rPr lang="en-US" sz="1350" dirty="0">
                <a:solidFill>
                  <a:srgbClr val="B9C4D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Maintain low latency for real-time video processing.</a:t>
            </a:r>
            <a:endParaRPr lang="en-US" sz="1350" dirty="0"/>
          </a:p>
        </p:txBody>
      </p:sp>
      <p:sp>
        <p:nvSpPr>
          <p:cNvPr id="17" name="Shape 27"/>
          <p:cNvSpPr/>
          <p:nvPr/>
        </p:nvSpPr>
        <p:spPr>
          <a:xfrm>
            <a:off x="6273643" y="457274"/>
            <a:ext cx="5308467" cy="5943451"/>
          </a:xfrm>
          <a:prstGeom prst="roundRect">
            <a:avLst>
              <a:gd name="adj" fmla="val 1675"/>
            </a:avLst>
          </a:prstGeom>
          <a:solidFill>
            <a:srgbClr val="12213D"/>
          </a:solidFill>
          <a:ln w="12700">
            <a:solidFill>
              <a:srgbClr val="2A3D63"/>
            </a:solidFill>
            <a:prstDash val="solid"/>
          </a:ln>
        </p:spPr>
      </p:sp>
      <p:sp>
        <p:nvSpPr>
          <p:cNvPr id="18" name="TextBox 29"/>
          <p:cNvSpPr/>
          <p:nvPr/>
        </p:nvSpPr>
        <p:spPr>
          <a:xfrm>
            <a:off x="6591135" y="774766"/>
            <a:ext cx="4673483" cy="220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b="1" kern="0" spc="144" dirty="0">
                <a:solidFill>
                  <a:srgbClr val="B9C4D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PROJECT SCOPE</a:t>
            </a:r>
            <a:endParaRPr lang="en-US" sz="1200" dirty="0"/>
          </a:p>
        </p:txBody>
      </p:sp>
      <p:sp>
        <p:nvSpPr>
          <p:cNvPr id="19" name="TextBox 31"/>
          <p:cNvSpPr/>
          <p:nvPr/>
        </p:nvSpPr>
        <p:spPr>
          <a:xfrm>
            <a:off x="6591135" y="1071919"/>
            <a:ext cx="4673483" cy="275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166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Inputs to outputs</a:t>
            </a:r>
            <a:endParaRPr lang="en-US" sz="1900" dirty="0"/>
          </a:p>
        </p:txBody>
      </p:sp>
      <p:sp>
        <p:nvSpPr>
          <p:cNvPr id="20" name="TextBox 36"/>
          <p:cNvSpPr/>
          <p:nvPr/>
        </p:nvSpPr>
        <p:spPr>
          <a:xfrm>
            <a:off x="6591135" y="1524742"/>
            <a:ext cx="366604" cy="330192"/>
          </a:xfrm>
          <a:prstGeom prst="roundRect">
            <a:avLst>
              <a:gd name="adj" fmla="val 50000"/>
            </a:avLst>
          </a:prstGeom>
          <a:solidFill>
            <a:srgbClr val="00E5CC"/>
          </a:solidFill>
          <a:ln/>
        </p:spPr>
        <p:txBody>
          <a:bodyPr wrap="square" lIns="139697" tIns="38099" rIns="139697" bIns="38099" rtlCol="0" anchor="ctr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6281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TextBox 37"/>
          <p:cNvSpPr/>
          <p:nvPr/>
        </p:nvSpPr>
        <p:spPr>
          <a:xfrm>
            <a:off x="7072036" y="1524742"/>
            <a:ext cx="3662767" cy="2577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Process </a:t>
            </a:r>
            <a:r>
              <a:rPr lang="en-US" sz="14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image, video, or webcam</a:t>
            </a:r>
            <a:r>
              <a:rPr lang="en-US" sz="14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streams.</a:t>
            </a:r>
            <a:endParaRPr lang="en-US" sz="1400" dirty="0"/>
          </a:p>
        </p:txBody>
      </p:sp>
      <p:sp>
        <p:nvSpPr>
          <p:cNvPr id="22" name="TextBox 40"/>
          <p:cNvSpPr/>
          <p:nvPr/>
        </p:nvSpPr>
        <p:spPr>
          <a:xfrm>
            <a:off x="6591135" y="1994630"/>
            <a:ext cx="366604" cy="330192"/>
          </a:xfrm>
          <a:prstGeom prst="roundRect">
            <a:avLst>
              <a:gd name="adj" fmla="val 50000"/>
            </a:avLst>
          </a:prstGeom>
          <a:solidFill>
            <a:srgbClr val="00E5CC"/>
          </a:solidFill>
          <a:ln/>
        </p:spPr>
        <p:txBody>
          <a:bodyPr wrap="square" lIns="139697" tIns="38099" rIns="139697" bIns="38099" rtlCol="0" anchor="ctr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6281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TextBox 41"/>
          <p:cNvSpPr/>
          <p:nvPr/>
        </p:nvSpPr>
        <p:spPr>
          <a:xfrm>
            <a:off x="7072036" y="1994630"/>
            <a:ext cx="3166388" cy="2577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Generate </a:t>
            </a:r>
            <a:r>
              <a:rPr lang="en-US" sz="14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bounding boxes</a:t>
            </a:r>
            <a:r>
              <a:rPr lang="en-US" sz="14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per object.</a:t>
            </a:r>
            <a:endParaRPr lang="en-US" sz="1400" dirty="0"/>
          </a:p>
        </p:txBody>
      </p:sp>
      <p:sp>
        <p:nvSpPr>
          <p:cNvPr id="24" name="TextBox 44"/>
          <p:cNvSpPr/>
          <p:nvPr/>
        </p:nvSpPr>
        <p:spPr>
          <a:xfrm>
            <a:off x="6591135" y="2464519"/>
            <a:ext cx="366604" cy="330192"/>
          </a:xfrm>
          <a:prstGeom prst="roundRect">
            <a:avLst>
              <a:gd name="adj" fmla="val 50000"/>
            </a:avLst>
          </a:prstGeom>
          <a:solidFill>
            <a:srgbClr val="00E5CC"/>
          </a:solidFill>
          <a:ln/>
        </p:spPr>
        <p:txBody>
          <a:bodyPr wrap="square" lIns="139697" tIns="38099" rIns="139697" bIns="38099" rtlCol="0" anchor="ctr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6281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Box 45"/>
          <p:cNvSpPr/>
          <p:nvPr/>
        </p:nvSpPr>
        <p:spPr>
          <a:xfrm>
            <a:off x="7072036" y="2464519"/>
            <a:ext cx="3859414" cy="2577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Output </a:t>
            </a:r>
            <a:r>
              <a:rPr lang="en-US" sz="14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class + confidence score</a:t>
            </a:r>
            <a:r>
              <a:rPr lang="en-US" sz="14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and track ID.</a:t>
            </a:r>
            <a:endParaRPr lang="en-US" sz="1400" dirty="0"/>
          </a:p>
        </p:txBody>
      </p:sp>
      <p:sp>
        <p:nvSpPr>
          <p:cNvPr id="26" name="Shape 48"/>
          <p:cNvSpPr/>
          <p:nvPr/>
        </p:nvSpPr>
        <p:spPr>
          <a:xfrm>
            <a:off x="6591135" y="2985206"/>
            <a:ext cx="4673483" cy="643715"/>
          </a:xfrm>
          <a:prstGeom prst="rect">
            <a:avLst/>
          </a:prstGeom>
          <a:noFill/>
          <a:ln/>
        </p:spPr>
      </p:sp>
      <p:pic>
        <p:nvPicPr>
          <p:cNvPr id="27" name="Picture 48" descr="__type_imag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91135" y="2985206"/>
            <a:ext cx="4673483" cy="643715"/>
          </a:xfrm>
          <a:prstGeom prst="rect">
            <a:avLst/>
          </a:prstGeom>
        </p:spPr>
      </p:pic>
      <p:sp>
        <p:nvSpPr>
          <p:cNvPr id="28" name="TextBox 49"/>
          <p:cNvSpPr/>
          <p:nvPr/>
        </p:nvSpPr>
        <p:spPr>
          <a:xfrm>
            <a:off x="6591135" y="3150301"/>
            <a:ext cx="4673483" cy="478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B9C4D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Example output: Person 0.94 · Car 0.89 · ID-persistent across frames.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86"/>
            <a:ext cx="12191695" cy="6857829"/>
          </a:xfrm>
          <a:prstGeom prst="rect">
            <a:avLst/>
          </a:prstGeom>
          <a:solidFill>
            <a:srgbClr val="081120"/>
          </a:solidFill>
          <a:ln/>
        </p:spPr>
      </p:sp>
      <p:sp>
        <p:nvSpPr>
          <p:cNvPr id="4" name="Shape 6"/>
          <p:cNvSpPr/>
          <p:nvPr/>
        </p:nvSpPr>
        <p:spPr>
          <a:xfrm>
            <a:off x="609585" y="535953"/>
            <a:ext cx="279393" cy="63498"/>
          </a:xfrm>
          <a:prstGeom prst="rect">
            <a:avLst/>
          </a:prstGeom>
          <a:solidFill>
            <a:srgbClr val="00E5CC"/>
          </a:solidFill>
          <a:ln/>
        </p:spPr>
      </p:sp>
      <p:sp>
        <p:nvSpPr>
          <p:cNvPr id="5" name="TextBox 7"/>
          <p:cNvSpPr/>
          <p:nvPr/>
        </p:nvSpPr>
        <p:spPr>
          <a:xfrm>
            <a:off x="977876" y="457274"/>
            <a:ext cx="4788442" cy="202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b="1" kern="0" spc="168" dirty="0">
                <a:solidFill>
                  <a:srgbClr val="00E5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04 · SYSTEM ARCHITECTURE &amp; WORKFLOW</a:t>
            </a:r>
            <a:endParaRPr lang="en-US" sz="1200" dirty="0"/>
          </a:p>
        </p:txBody>
      </p:sp>
      <p:sp>
        <p:nvSpPr>
          <p:cNvPr id="6" name="TextBox 9"/>
          <p:cNvSpPr/>
          <p:nvPr/>
        </p:nvSpPr>
        <p:spPr>
          <a:xfrm>
            <a:off x="609585" y="843325"/>
            <a:ext cx="9397765" cy="438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456"/>
              </a:lnSpc>
              <a:buNone/>
            </a:pPr>
            <a:r>
              <a:rPr lang="en-US" sz="3200" b="1" kern="0" spc="-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Five-stage pipeline, frame in to overlay out</a:t>
            </a:r>
            <a:endParaRPr lang="en-US" sz="3200" dirty="0"/>
          </a:p>
        </p:txBody>
      </p:sp>
      <p:sp>
        <p:nvSpPr>
          <p:cNvPr id="7" name="Shape 13"/>
          <p:cNvSpPr/>
          <p:nvPr/>
        </p:nvSpPr>
        <p:spPr>
          <a:xfrm>
            <a:off x="609585" y="1586951"/>
            <a:ext cx="2072529" cy="2182460"/>
          </a:xfrm>
          <a:prstGeom prst="roundRect">
            <a:avLst>
              <a:gd name="adj" fmla="val 4289"/>
            </a:avLst>
          </a:prstGeom>
          <a:solidFill>
            <a:srgbClr val="12213D"/>
          </a:solidFill>
          <a:ln/>
        </p:spPr>
      </p:sp>
      <p:pic>
        <p:nvPicPr>
          <p:cNvPr id="8" name="Picture 13" descr="__type_imag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585" y="1586951"/>
            <a:ext cx="2072529" cy="2182460"/>
          </a:xfrm>
          <a:prstGeom prst="rect">
            <a:avLst/>
          </a:prstGeom>
        </p:spPr>
      </p:pic>
      <p:sp>
        <p:nvSpPr>
          <p:cNvPr id="9" name="TextBox 14"/>
          <p:cNvSpPr/>
          <p:nvPr/>
        </p:nvSpPr>
        <p:spPr>
          <a:xfrm>
            <a:off x="863578" y="1866344"/>
            <a:ext cx="1564541" cy="220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b="1" kern="0" spc="144" dirty="0">
                <a:solidFill>
                  <a:srgbClr val="00E5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 · INGEST</a:t>
            </a:r>
            <a:endParaRPr lang="en-US" sz="1200" dirty="0"/>
          </a:p>
        </p:txBody>
      </p:sp>
      <p:sp>
        <p:nvSpPr>
          <p:cNvPr id="10" name="TextBox 15"/>
          <p:cNvSpPr/>
          <p:nvPr/>
        </p:nvSpPr>
        <p:spPr>
          <a:xfrm>
            <a:off x="863578" y="2163496"/>
            <a:ext cx="1564541" cy="2315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24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 ingestion</a:t>
            </a:r>
            <a:endParaRPr lang="en-US" sz="1600" dirty="0"/>
          </a:p>
        </p:txBody>
      </p:sp>
      <p:sp>
        <p:nvSpPr>
          <p:cNvPr id="11" name="TextBox 16"/>
          <p:cNvSpPr/>
          <p:nvPr/>
        </p:nvSpPr>
        <p:spPr>
          <a:xfrm>
            <a:off x="863578" y="2483965"/>
            <a:ext cx="1564541" cy="9941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57"/>
              </a:lnSpc>
              <a:buNone/>
            </a:pPr>
            <a:r>
              <a:rPr lang="en-US" sz="1350" dirty="0">
                <a:solidFill>
                  <a:srgbClr val="B9C4D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Frame-by-frame extraction from image / video sources.</a:t>
            </a:r>
            <a:endParaRPr lang="en-US" sz="1350" dirty="0"/>
          </a:p>
        </p:txBody>
      </p:sp>
      <p:sp>
        <p:nvSpPr>
          <p:cNvPr id="12" name="Shape 18"/>
          <p:cNvSpPr/>
          <p:nvPr/>
        </p:nvSpPr>
        <p:spPr>
          <a:xfrm>
            <a:off x="2834510" y="1586951"/>
            <a:ext cx="2072628" cy="2182460"/>
          </a:xfrm>
          <a:prstGeom prst="roundRect">
            <a:avLst>
              <a:gd name="adj" fmla="val 4289"/>
            </a:avLst>
          </a:prstGeom>
          <a:solidFill>
            <a:srgbClr val="12213D"/>
          </a:solidFill>
          <a:ln/>
        </p:spPr>
      </p:sp>
      <p:pic>
        <p:nvPicPr>
          <p:cNvPr id="13" name="Picture 18" descr="__type_imag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34510" y="1586951"/>
            <a:ext cx="2072628" cy="2182460"/>
          </a:xfrm>
          <a:prstGeom prst="rect">
            <a:avLst/>
          </a:prstGeom>
        </p:spPr>
      </p:pic>
      <p:sp>
        <p:nvSpPr>
          <p:cNvPr id="14" name="TextBox 19"/>
          <p:cNvSpPr/>
          <p:nvPr/>
        </p:nvSpPr>
        <p:spPr>
          <a:xfrm>
            <a:off x="3088503" y="1866344"/>
            <a:ext cx="1564641" cy="220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b="1" kern="0" spc="144" dirty="0">
                <a:solidFill>
                  <a:srgbClr val="00E5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 · PREP</a:t>
            </a:r>
            <a:endParaRPr lang="en-US" sz="1200" dirty="0"/>
          </a:p>
        </p:txBody>
      </p:sp>
      <p:sp>
        <p:nvSpPr>
          <p:cNvPr id="15" name="TextBox 20"/>
          <p:cNvSpPr/>
          <p:nvPr/>
        </p:nvSpPr>
        <p:spPr>
          <a:xfrm>
            <a:off x="3088503" y="2163496"/>
            <a:ext cx="1564641" cy="2315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24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Preprocessing</a:t>
            </a:r>
            <a:endParaRPr lang="en-US" sz="1600" dirty="0"/>
          </a:p>
        </p:txBody>
      </p:sp>
      <p:sp>
        <p:nvSpPr>
          <p:cNvPr id="16" name="TextBox 21"/>
          <p:cNvSpPr/>
          <p:nvPr/>
        </p:nvSpPr>
        <p:spPr>
          <a:xfrm>
            <a:off x="3088503" y="2483965"/>
            <a:ext cx="1564641" cy="745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57"/>
              </a:lnSpc>
              <a:buNone/>
            </a:pPr>
            <a:r>
              <a:rPr lang="en-US" sz="1350" dirty="0">
                <a:solidFill>
                  <a:srgbClr val="B9C4D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Resizing, normalization, augmentation.</a:t>
            </a:r>
            <a:endParaRPr lang="en-US" sz="1350" dirty="0"/>
          </a:p>
        </p:txBody>
      </p:sp>
      <p:sp>
        <p:nvSpPr>
          <p:cNvPr id="17" name="Shape 23"/>
          <p:cNvSpPr/>
          <p:nvPr/>
        </p:nvSpPr>
        <p:spPr>
          <a:xfrm>
            <a:off x="5059534" y="1586951"/>
            <a:ext cx="2072529" cy="2182460"/>
          </a:xfrm>
          <a:prstGeom prst="roundRect">
            <a:avLst>
              <a:gd name="adj" fmla="val 4289"/>
            </a:avLst>
          </a:prstGeom>
          <a:solidFill>
            <a:srgbClr val="12213D"/>
          </a:solidFill>
          <a:ln/>
        </p:spPr>
      </p:sp>
      <p:pic>
        <p:nvPicPr>
          <p:cNvPr id="18" name="Picture 23" descr="__type_imag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59534" y="1586951"/>
            <a:ext cx="2072529" cy="2182460"/>
          </a:xfrm>
          <a:prstGeom prst="rect">
            <a:avLst/>
          </a:prstGeom>
        </p:spPr>
      </p:pic>
      <p:sp>
        <p:nvSpPr>
          <p:cNvPr id="19" name="TextBox 24"/>
          <p:cNvSpPr/>
          <p:nvPr/>
        </p:nvSpPr>
        <p:spPr>
          <a:xfrm>
            <a:off x="5313527" y="1866344"/>
            <a:ext cx="1564541" cy="220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b="1" kern="0" spc="144" dirty="0">
                <a:solidFill>
                  <a:srgbClr val="00E5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 · INFER</a:t>
            </a:r>
            <a:endParaRPr lang="en-US" sz="1200" dirty="0"/>
          </a:p>
        </p:txBody>
      </p:sp>
      <p:sp>
        <p:nvSpPr>
          <p:cNvPr id="20" name="TextBox 25"/>
          <p:cNvSpPr/>
          <p:nvPr/>
        </p:nvSpPr>
        <p:spPr>
          <a:xfrm>
            <a:off x="5313527" y="2163496"/>
            <a:ext cx="1564541" cy="463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24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Inference engine</a:t>
            </a:r>
            <a:endParaRPr lang="en-US" sz="1600" dirty="0"/>
          </a:p>
        </p:txBody>
      </p:sp>
      <p:sp>
        <p:nvSpPr>
          <p:cNvPr id="21" name="TextBox 26"/>
          <p:cNvSpPr/>
          <p:nvPr/>
        </p:nvSpPr>
        <p:spPr>
          <a:xfrm>
            <a:off x="5313527" y="2715536"/>
            <a:ext cx="1564541" cy="812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57"/>
              </a:lnSpc>
              <a:buNone/>
            </a:pPr>
            <a:r>
              <a:rPr lang="en-US" sz="1350" dirty="0">
                <a:solidFill>
                  <a:srgbClr val="B9C4D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Detector </a:t>
            </a:r>
            <a:r>
              <a:rPr lang="en-US" sz="1300" b="1" dirty="0">
                <a:solidFill>
                  <a:srgbClr val="FFFFFF"/>
                </a:solidFill>
                <a:highlight>
                  <a:srgbClr val="0A1A33"/>
                </a:highlight>
                <a:latin typeface="Noto Sans" pitchFamily="34" charset="0"/>
                <a:ea typeface="Noto Sans" pitchFamily="34" charset="-122"/>
                <a:cs typeface="Noto Sans" pitchFamily="34" charset="-120"/>
              </a:rPr>
              <a:t>detector.py</a:t>
            </a:r>
            <a:r>
              <a:rPr lang="en-US" sz="1350" dirty="0">
                <a:solidFill>
                  <a:srgbClr val="B9C4D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YOLO / SSD.</a:t>
            </a:r>
            <a:endParaRPr lang="en-US" sz="1350" dirty="0"/>
          </a:p>
        </p:txBody>
      </p:sp>
      <p:sp>
        <p:nvSpPr>
          <p:cNvPr id="22" name="Shape 28"/>
          <p:cNvSpPr/>
          <p:nvPr/>
        </p:nvSpPr>
        <p:spPr>
          <a:xfrm>
            <a:off x="7284459" y="1586951"/>
            <a:ext cx="2072628" cy="2182460"/>
          </a:xfrm>
          <a:prstGeom prst="roundRect">
            <a:avLst>
              <a:gd name="adj" fmla="val 4289"/>
            </a:avLst>
          </a:prstGeom>
          <a:solidFill>
            <a:srgbClr val="12213D"/>
          </a:solidFill>
          <a:ln/>
        </p:spPr>
      </p:sp>
      <p:pic>
        <p:nvPicPr>
          <p:cNvPr id="23" name="Picture 28" descr="__type_imag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84459" y="1586951"/>
            <a:ext cx="2072628" cy="2182460"/>
          </a:xfrm>
          <a:prstGeom prst="rect">
            <a:avLst/>
          </a:prstGeom>
        </p:spPr>
      </p:pic>
      <p:sp>
        <p:nvSpPr>
          <p:cNvPr id="24" name="TextBox 29"/>
          <p:cNvSpPr/>
          <p:nvPr/>
        </p:nvSpPr>
        <p:spPr>
          <a:xfrm>
            <a:off x="7538452" y="1866344"/>
            <a:ext cx="1564641" cy="220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b="1" kern="0" spc="144" dirty="0">
                <a:solidFill>
                  <a:srgbClr val="00E5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04 · FILTER</a:t>
            </a:r>
            <a:endParaRPr lang="en-US" sz="1200" dirty="0"/>
          </a:p>
        </p:txBody>
      </p:sp>
      <p:sp>
        <p:nvSpPr>
          <p:cNvPr id="25" name="TextBox 30"/>
          <p:cNvSpPr/>
          <p:nvPr/>
        </p:nvSpPr>
        <p:spPr>
          <a:xfrm>
            <a:off x="7538452" y="2163496"/>
            <a:ext cx="1564641" cy="463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24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Post-processing</a:t>
            </a:r>
            <a:endParaRPr lang="en-US" sz="1600" dirty="0"/>
          </a:p>
        </p:txBody>
      </p:sp>
      <p:sp>
        <p:nvSpPr>
          <p:cNvPr id="26" name="TextBox 31"/>
          <p:cNvSpPr/>
          <p:nvPr/>
        </p:nvSpPr>
        <p:spPr>
          <a:xfrm>
            <a:off x="7538452" y="2715536"/>
            <a:ext cx="1564641" cy="4970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57"/>
              </a:lnSpc>
              <a:buNone/>
            </a:pPr>
            <a:r>
              <a:rPr lang="en-US" sz="1350" dirty="0">
                <a:solidFill>
                  <a:srgbClr val="B9C4D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NMS filters overlapping boxes.</a:t>
            </a:r>
            <a:endParaRPr lang="en-US" sz="1350" dirty="0"/>
          </a:p>
        </p:txBody>
      </p:sp>
      <p:sp>
        <p:nvSpPr>
          <p:cNvPr id="27" name="Shape 33"/>
          <p:cNvSpPr/>
          <p:nvPr/>
        </p:nvSpPr>
        <p:spPr>
          <a:xfrm>
            <a:off x="9509483" y="1586951"/>
            <a:ext cx="2072529" cy="2182460"/>
          </a:xfrm>
          <a:prstGeom prst="roundRect">
            <a:avLst>
              <a:gd name="adj" fmla="val 4289"/>
            </a:avLst>
          </a:prstGeom>
          <a:solidFill>
            <a:srgbClr val="12213D"/>
          </a:solidFill>
          <a:ln/>
        </p:spPr>
      </p:sp>
      <p:pic>
        <p:nvPicPr>
          <p:cNvPr id="28" name="Picture 33" descr="__type_imag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09483" y="1586951"/>
            <a:ext cx="2072529" cy="2182460"/>
          </a:xfrm>
          <a:prstGeom prst="rect">
            <a:avLst/>
          </a:prstGeom>
        </p:spPr>
      </p:pic>
      <p:sp>
        <p:nvSpPr>
          <p:cNvPr id="29" name="TextBox 34"/>
          <p:cNvSpPr/>
          <p:nvPr/>
        </p:nvSpPr>
        <p:spPr>
          <a:xfrm>
            <a:off x="9763476" y="1866344"/>
            <a:ext cx="1564541" cy="220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b="1" kern="0" spc="144" dirty="0">
                <a:solidFill>
                  <a:srgbClr val="00E5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05 · SHOW</a:t>
            </a:r>
            <a:endParaRPr lang="en-US" sz="1200" dirty="0"/>
          </a:p>
        </p:txBody>
      </p:sp>
      <p:sp>
        <p:nvSpPr>
          <p:cNvPr id="30" name="TextBox 35"/>
          <p:cNvSpPr/>
          <p:nvPr/>
        </p:nvSpPr>
        <p:spPr>
          <a:xfrm>
            <a:off x="9763476" y="2163496"/>
            <a:ext cx="1564541" cy="2315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24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Visualization</a:t>
            </a:r>
            <a:endParaRPr lang="en-US" sz="1600" dirty="0"/>
          </a:p>
        </p:txBody>
      </p:sp>
      <p:sp>
        <p:nvSpPr>
          <p:cNvPr id="31" name="TextBox 36"/>
          <p:cNvSpPr/>
          <p:nvPr/>
        </p:nvSpPr>
        <p:spPr>
          <a:xfrm>
            <a:off x="9763476" y="2483965"/>
            <a:ext cx="1564541" cy="812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57"/>
              </a:lnSpc>
              <a:buNone/>
            </a:pPr>
            <a:r>
              <a:rPr lang="en-US" sz="1350" dirty="0">
                <a:solidFill>
                  <a:srgbClr val="B9C4D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Boxes + labels + IDs via </a:t>
            </a:r>
            <a:r>
              <a:rPr lang="en-US" sz="1300" b="1" dirty="0">
                <a:solidFill>
                  <a:srgbClr val="FFFFFF"/>
                </a:solidFill>
                <a:highlight>
                  <a:srgbClr val="0A1A33"/>
                </a:highlight>
                <a:latin typeface="Noto Sans" pitchFamily="34" charset="0"/>
                <a:ea typeface="Noto Sans" pitchFamily="34" charset="-122"/>
                <a:cs typeface="Noto Sans" pitchFamily="34" charset="-120"/>
              </a:rPr>
              <a:t>visualizer.py</a:t>
            </a:r>
            <a:r>
              <a:rPr lang="en-US" sz="1350" dirty="0">
                <a:solidFill>
                  <a:srgbClr val="B9C4D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</a:t>
            </a:r>
            <a:endParaRPr lang="en-US" sz="1350" dirty="0"/>
          </a:p>
        </p:txBody>
      </p:sp>
      <p:sp>
        <p:nvSpPr>
          <p:cNvPr id="32" name="Shape 39"/>
          <p:cNvSpPr/>
          <p:nvPr/>
        </p:nvSpPr>
        <p:spPr>
          <a:xfrm>
            <a:off x="609585" y="3998005"/>
            <a:ext cx="10972526" cy="685783"/>
          </a:xfrm>
          <a:prstGeom prst="roundRect">
            <a:avLst>
              <a:gd name="adj" fmla="val 12963"/>
            </a:avLst>
          </a:prstGeom>
          <a:solidFill>
            <a:srgbClr val="12213D"/>
          </a:solidFill>
          <a:ln w="12700">
            <a:solidFill>
              <a:srgbClr val="2A3D63"/>
            </a:solidFill>
            <a:prstDash val="solid"/>
          </a:ln>
        </p:spPr>
      </p:sp>
      <p:sp>
        <p:nvSpPr>
          <p:cNvPr id="33" name="TextBox 41"/>
          <p:cNvSpPr/>
          <p:nvPr/>
        </p:nvSpPr>
        <p:spPr>
          <a:xfrm>
            <a:off x="850879" y="4156962"/>
            <a:ext cx="779801" cy="367871"/>
          </a:xfrm>
          <a:prstGeom prst="roundRect">
            <a:avLst>
              <a:gd name="adj" fmla="val 50000"/>
            </a:avLst>
          </a:prstGeom>
          <a:solidFill>
            <a:srgbClr val="00E5CC"/>
          </a:solidFill>
          <a:ln/>
        </p:spPr>
        <p:txBody>
          <a:bodyPr wrap="square" lIns="139697" tIns="38099" rIns="139697" bIns="38099" rtlCol="0" anchor="ctr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6281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Flow</a:t>
            </a:r>
            <a:endParaRPr lang="en-US" sz="1200" dirty="0"/>
          </a:p>
        </p:txBody>
      </p:sp>
      <p:sp>
        <p:nvSpPr>
          <p:cNvPr id="34" name="TextBox 43"/>
          <p:cNvSpPr/>
          <p:nvPr/>
        </p:nvSpPr>
        <p:spPr>
          <a:xfrm>
            <a:off x="2000348" y="4207352"/>
            <a:ext cx="7205978" cy="266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102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Ingest </a:t>
            </a:r>
            <a:r>
              <a:rPr lang="en-US" sz="14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&gt;</a:t>
            </a:r>
            <a:r>
              <a:rPr lang="en-US" sz="14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Preprocess </a:t>
            </a:r>
            <a:r>
              <a:rPr lang="en-US" sz="14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&gt;</a:t>
            </a:r>
            <a:r>
              <a:rPr lang="en-US" sz="14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Infer </a:t>
            </a:r>
            <a:r>
              <a:rPr lang="en-US" sz="14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&gt;</a:t>
            </a:r>
            <a:r>
              <a:rPr lang="en-US" sz="14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NMS </a:t>
            </a:r>
            <a:r>
              <a:rPr lang="en-US" sz="14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&gt;</a:t>
            </a:r>
            <a:r>
              <a:rPr lang="en-US" sz="14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Visualize — every frame, every 33 ms at 30 FPS.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86"/>
            <a:ext cx="12191695" cy="6857829"/>
          </a:xfrm>
          <a:prstGeom prst="rect">
            <a:avLst/>
          </a:prstGeom>
          <a:solidFill>
            <a:srgbClr val="081120"/>
          </a:solidFill>
          <a:ln/>
        </p:spPr>
      </p:sp>
      <p:sp>
        <p:nvSpPr>
          <p:cNvPr id="4" name="Shape 6"/>
          <p:cNvSpPr/>
          <p:nvPr/>
        </p:nvSpPr>
        <p:spPr>
          <a:xfrm>
            <a:off x="609585" y="535953"/>
            <a:ext cx="279393" cy="63498"/>
          </a:xfrm>
          <a:prstGeom prst="rect">
            <a:avLst/>
          </a:prstGeom>
          <a:solidFill>
            <a:srgbClr val="00E5CC"/>
          </a:solidFill>
          <a:ln/>
        </p:spPr>
      </p:sp>
      <p:sp>
        <p:nvSpPr>
          <p:cNvPr id="5" name="TextBox 7"/>
          <p:cNvSpPr/>
          <p:nvPr/>
        </p:nvSpPr>
        <p:spPr>
          <a:xfrm>
            <a:off x="977875" y="457274"/>
            <a:ext cx="3920695" cy="202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b="1" kern="0" spc="168" dirty="0">
                <a:solidFill>
                  <a:srgbClr val="00E5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05 · TECHNOLOGY STACK &amp; TOOLS</a:t>
            </a:r>
            <a:endParaRPr lang="en-US" sz="1200" dirty="0"/>
          </a:p>
        </p:txBody>
      </p:sp>
      <p:sp>
        <p:nvSpPr>
          <p:cNvPr id="6" name="TextBox 9"/>
          <p:cNvSpPr/>
          <p:nvPr/>
        </p:nvSpPr>
        <p:spPr>
          <a:xfrm>
            <a:off x="609585" y="843325"/>
            <a:ext cx="9397765" cy="438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456"/>
              </a:lnSpc>
              <a:buNone/>
            </a:pPr>
            <a:r>
              <a:rPr lang="en-US" sz="3200" b="1" kern="0" spc="-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Lean, proven, Python-first</a:t>
            </a:r>
            <a:endParaRPr lang="en-US" sz="3200" dirty="0"/>
          </a:p>
        </p:txBody>
      </p:sp>
      <p:sp>
        <p:nvSpPr>
          <p:cNvPr id="7" name="Shape 13"/>
          <p:cNvSpPr/>
          <p:nvPr/>
        </p:nvSpPr>
        <p:spPr>
          <a:xfrm>
            <a:off x="609585" y="1586951"/>
            <a:ext cx="2609785" cy="2130372"/>
          </a:xfrm>
          <a:prstGeom prst="roundRect">
            <a:avLst>
              <a:gd name="adj" fmla="val 4173"/>
            </a:avLst>
          </a:prstGeom>
          <a:solidFill>
            <a:srgbClr val="12213D"/>
          </a:solidFill>
          <a:ln/>
        </p:spPr>
      </p:sp>
      <p:pic>
        <p:nvPicPr>
          <p:cNvPr id="8" name="Picture 13" descr="__type_imag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585" y="1586951"/>
            <a:ext cx="2609785" cy="2130372"/>
          </a:xfrm>
          <a:prstGeom prst="rect">
            <a:avLst/>
          </a:prstGeom>
        </p:spPr>
      </p:pic>
      <p:sp>
        <p:nvSpPr>
          <p:cNvPr id="9" name="TextBox 14"/>
          <p:cNvSpPr/>
          <p:nvPr/>
        </p:nvSpPr>
        <p:spPr>
          <a:xfrm>
            <a:off x="863578" y="1866344"/>
            <a:ext cx="2101797" cy="248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57"/>
              </a:lnSpc>
              <a:buNone/>
            </a:pPr>
            <a:r>
              <a:rPr lang="en-US" sz="1350" b="1" kern="0" spc="162" dirty="0">
                <a:solidFill>
                  <a:srgbClr val="B9C4D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LANGUAGE</a:t>
            </a:r>
            <a:endParaRPr lang="en-US" sz="1350" dirty="0"/>
          </a:p>
        </p:txBody>
      </p:sp>
      <p:sp>
        <p:nvSpPr>
          <p:cNvPr id="10" name="TextBox 15"/>
          <p:cNvSpPr/>
          <p:nvPr/>
        </p:nvSpPr>
        <p:spPr>
          <a:xfrm>
            <a:off x="863578" y="2178379"/>
            <a:ext cx="2101797" cy="2315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24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Python 3.14+</a:t>
            </a:r>
            <a:endParaRPr lang="en-US" sz="1600" dirty="0"/>
          </a:p>
        </p:txBody>
      </p:sp>
      <p:sp>
        <p:nvSpPr>
          <p:cNvPr id="11" name="TextBox 16"/>
          <p:cNvSpPr/>
          <p:nvPr/>
        </p:nvSpPr>
        <p:spPr>
          <a:xfrm>
            <a:off x="863578" y="2498847"/>
            <a:ext cx="2101797" cy="4970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57"/>
              </a:lnSpc>
              <a:buNone/>
            </a:pPr>
            <a:r>
              <a:rPr lang="en-US" sz="1350" dirty="0">
                <a:solidFill>
                  <a:srgbClr val="B9C4D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App, CLI, glue code, rapid iteration.</a:t>
            </a:r>
            <a:endParaRPr lang="en-US" sz="1350" dirty="0"/>
          </a:p>
        </p:txBody>
      </p:sp>
      <p:sp>
        <p:nvSpPr>
          <p:cNvPr id="12" name="Shape 18"/>
          <p:cNvSpPr/>
          <p:nvPr/>
        </p:nvSpPr>
        <p:spPr>
          <a:xfrm>
            <a:off x="3397165" y="1586951"/>
            <a:ext cx="2609785" cy="2130372"/>
          </a:xfrm>
          <a:prstGeom prst="roundRect">
            <a:avLst>
              <a:gd name="adj" fmla="val 4173"/>
            </a:avLst>
          </a:prstGeom>
          <a:solidFill>
            <a:srgbClr val="12213D"/>
          </a:solidFill>
          <a:ln/>
        </p:spPr>
      </p:sp>
      <p:pic>
        <p:nvPicPr>
          <p:cNvPr id="13" name="Picture 18" descr="__type_imag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7165" y="1586951"/>
            <a:ext cx="2609785" cy="2130372"/>
          </a:xfrm>
          <a:prstGeom prst="rect">
            <a:avLst/>
          </a:prstGeom>
        </p:spPr>
      </p:pic>
      <p:sp>
        <p:nvSpPr>
          <p:cNvPr id="14" name="TextBox 19"/>
          <p:cNvSpPr/>
          <p:nvPr/>
        </p:nvSpPr>
        <p:spPr>
          <a:xfrm>
            <a:off x="3651159" y="1866344"/>
            <a:ext cx="2101797" cy="248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57"/>
              </a:lnSpc>
              <a:buNone/>
            </a:pPr>
            <a:r>
              <a:rPr lang="en-US" sz="1350" b="1" kern="0" spc="162" dirty="0">
                <a:solidFill>
                  <a:srgbClr val="B9C4D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FRAMEWORKS</a:t>
            </a:r>
            <a:endParaRPr lang="en-US" sz="1350" dirty="0"/>
          </a:p>
        </p:txBody>
      </p:sp>
      <p:sp>
        <p:nvSpPr>
          <p:cNvPr id="15" name="TextBox 20"/>
          <p:cNvSpPr/>
          <p:nvPr/>
        </p:nvSpPr>
        <p:spPr>
          <a:xfrm>
            <a:off x="3651159" y="2178379"/>
            <a:ext cx="2101797" cy="463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24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TensorFlow / PyTorch</a:t>
            </a:r>
            <a:endParaRPr lang="en-US" sz="1600" dirty="0"/>
          </a:p>
        </p:txBody>
      </p:sp>
      <p:sp>
        <p:nvSpPr>
          <p:cNvPr id="16" name="TextBox 21"/>
          <p:cNvSpPr/>
          <p:nvPr/>
        </p:nvSpPr>
        <p:spPr>
          <a:xfrm>
            <a:off x="3651159" y="2730418"/>
            <a:ext cx="2101797" cy="745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57"/>
              </a:lnSpc>
              <a:buNone/>
            </a:pPr>
            <a:r>
              <a:rPr lang="en-US" sz="1350" dirty="0">
                <a:solidFill>
                  <a:srgbClr val="B9C4D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Training + inference. OpenCV DNN for deployment.</a:t>
            </a:r>
            <a:endParaRPr lang="en-US" sz="1350" dirty="0"/>
          </a:p>
        </p:txBody>
      </p:sp>
      <p:sp>
        <p:nvSpPr>
          <p:cNvPr id="17" name="Shape 23"/>
          <p:cNvSpPr/>
          <p:nvPr/>
        </p:nvSpPr>
        <p:spPr>
          <a:xfrm>
            <a:off x="6184745" y="1586951"/>
            <a:ext cx="2609785" cy="2130372"/>
          </a:xfrm>
          <a:prstGeom prst="roundRect">
            <a:avLst>
              <a:gd name="adj" fmla="val 4173"/>
            </a:avLst>
          </a:prstGeom>
          <a:solidFill>
            <a:srgbClr val="12213D"/>
          </a:solidFill>
          <a:ln/>
        </p:spPr>
      </p:sp>
      <p:pic>
        <p:nvPicPr>
          <p:cNvPr id="18" name="Picture 23" descr="__type_imag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84745" y="1586951"/>
            <a:ext cx="2609785" cy="2130372"/>
          </a:xfrm>
          <a:prstGeom prst="rect">
            <a:avLst/>
          </a:prstGeom>
        </p:spPr>
      </p:pic>
      <p:sp>
        <p:nvSpPr>
          <p:cNvPr id="19" name="TextBox 24"/>
          <p:cNvSpPr/>
          <p:nvPr/>
        </p:nvSpPr>
        <p:spPr>
          <a:xfrm>
            <a:off x="6438739" y="1866344"/>
            <a:ext cx="2101797" cy="248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57"/>
              </a:lnSpc>
              <a:buNone/>
            </a:pPr>
            <a:r>
              <a:rPr lang="en-US" sz="1350" b="1" kern="0" spc="162" dirty="0">
                <a:solidFill>
                  <a:srgbClr val="B9C4D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CORE LIBS</a:t>
            </a:r>
            <a:endParaRPr lang="en-US" sz="1350" dirty="0"/>
          </a:p>
        </p:txBody>
      </p:sp>
      <p:sp>
        <p:nvSpPr>
          <p:cNvPr id="20" name="TextBox 25"/>
          <p:cNvSpPr/>
          <p:nvPr/>
        </p:nvSpPr>
        <p:spPr>
          <a:xfrm>
            <a:off x="6438739" y="2178379"/>
            <a:ext cx="2101797" cy="2315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24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NumPy · Pandas</a:t>
            </a:r>
            <a:endParaRPr lang="en-US" sz="1600" dirty="0"/>
          </a:p>
        </p:txBody>
      </p:sp>
      <p:sp>
        <p:nvSpPr>
          <p:cNvPr id="21" name="TextBox 26"/>
          <p:cNvSpPr/>
          <p:nvPr/>
        </p:nvSpPr>
        <p:spPr>
          <a:xfrm>
            <a:off x="6438739" y="2498847"/>
            <a:ext cx="2101797" cy="4970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57"/>
              </a:lnSpc>
              <a:buNone/>
            </a:pPr>
            <a:r>
              <a:rPr lang="en-US" sz="1350" dirty="0">
                <a:solidFill>
                  <a:srgbClr val="B9C4D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Arrays, metrics, Matplotlib plots.</a:t>
            </a:r>
            <a:endParaRPr lang="en-US" sz="1350" dirty="0"/>
          </a:p>
        </p:txBody>
      </p:sp>
      <p:sp>
        <p:nvSpPr>
          <p:cNvPr id="22" name="Shape 28"/>
          <p:cNvSpPr/>
          <p:nvPr/>
        </p:nvSpPr>
        <p:spPr>
          <a:xfrm>
            <a:off x="8972326" y="1586951"/>
            <a:ext cx="2609785" cy="2130372"/>
          </a:xfrm>
          <a:prstGeom prst="roundRect">
            <a:avLst>
              <a:gd name="adj" fmla="val 4173"/>
            </a:avLst>
          </a:prstGeom>
          <a:solidFill>
            <a:srgbClr val="12213D"/>
          </a:solidFill>
          <a:ln/>
        </p:spPr>
      </p:sp>
      <p:pic>
        <p:nvPicPr>
          <p:cNvPr id="23" name="Picture 28" descr="__type_imag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72326" y="1586951"/>
            <a:ext cx="2609785" cy="2130372"/>
          </a:xfrm>
          <a:prstGeom prst="rect">
            <a:avLst/>
          </a:prstGeom>
        </p:spPr>
      </p:pic>
      <p:sp>
        <p:nvSpPr>
          <p:cNvPr id="24" name="TextBox 29"/>
          <p:cNvSpPr/>
          <p:nvPr/>
        </p:nvSpPr>
        <p:spPr>
          <a:xfrm>
            <a:off x="9226319" y="1866344"/>
            <a:ext cx="2101797" cy="248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57"/>
              </a:lnSpc>
              <a:buNone/>
            </a:pPr>
            <a:r>
              <a:rPr lang="en-US" sz="1350" b="1" kern="0" spc="162" dirty="0">
                <a:solidFill>
                  <a:srgbClr val="B9C4D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MODELS</a:t>
            </a:r>
            <a:endParaRPr lang="en-US" sz="1350" dirty="0"/>
          </a:p>
        </p:txBody>
      </p:sp>
      <p:sp>
        <p:nvSpPr>
          <p:cNvPr id="25" name="TextBox 30"/>
          <p:cNvSpPr/>
          <p:nvPr/>
        </p:nvSpPr>
        <p:spPr>
          <a:xfrm>
            <a:off x="9226319" y="2178379"/>
            <a:ext cx="2101797" cy="463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24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MobileNet-SSD · YOLO</a:t>
            </a:r>
            <a:endParaRPr lang="en-US" sz="1600" dirty="0"/>
          </a:p>
        </p:txBody>
      </p:sp>
      <p:sp>
        <p:nvSpPr>
          <p:cNvPr id="26" name="TextBox 31"/>
          <p:cNvSpPr/>
          <p:nvPr/>
        </p:nvSpPr>
        <p:spPr>
          <a:xfrm>
            <a:off x="9226319" y="2730418"/>
            <a:ext cx="2101797" cy="4970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57"/>
              </a:lnSpc>
              <a:buNone/>
            </a:pPr>
            <a:r>
              <a:rPr lang="en-US" sz="1350" dirty="0">
                <a:solidFill>
                  <a:srgbClr val="B9C4D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YOLO v5 / v8 or custom CNNs by speed budget.</a:t>
            </a:r>
            <a:endParaRPr lang="en-US" sz="1350" dirty="0"/>
          </a:p>
        </p:txBody>
      </p:sp>
      <p:sp>
        <p:nvSpPr>
          <p:cNvPr id="27" name="TextBox 36"/>
          <p:cNvSpPr/>
          <p:nvPr/>
        </p:nvSpPr>
        <p:spPr>
          <a:xfrm>
            <a:off x="609585" y="3945917"/>
            <a:ext cx="1133844" cy="304792"/>
          </a:xfrm>
          <a:prstGeom prst="roundRect">
            <a:avLst>
              <a:gd name="adj" fmla="val 16667"/>
            </a:avLst>
          </a:prstGeom>
          <a:solidFill>
            <a:srgbClr val="0A1A33"/>
          </a:solidFill>
          <a:ln w="12700">
            <a:solidFill>
              <a:srgbClr val="3D557F"/>
            </a:solidFill>
            <a:prstDash val="solid"/>
          </a:ln>
        </p:spPr>
        <p:txBody>
          <a:bodyPr wrap="square" lIns="88898" tIns="25399" rIns="88898" bIns="25399" rtlCol="0" anchor="t">
            <a:sp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detector.py</a:t>
            </a:r>
            <a:endParaRPr lang="en-US" sz="1300" dirty="0"/>
          </a:p>
        </p:txBody>
      </p:sp>
      <p:sp>
        <p:nvSpPr>
          <p:cNvPr id="28" name="TextBox 37"/>
          <p:cNvSpPr/>
          <p:nvPr/>
        </p:nvSpPr>
        <p:spPr>
          <a:xfrm>
            <a:off x="1857725" y="3945917"/>
            <a:ext cx="1031651" cy="304792"/>
          </a:xfrm>
          <a:prstGeom prst="roundRect">
            <a:avLst>
              <a:gd name="adj" fmla="val 16667"/>
            </a:avLst>
          </a:prstGeom>
          <a:solidFill>
            <a:srgbClr val="0A1A33"/>
          </a:solidFill>
          <a:ln w="12700">
            <a:solidFill>
              <a:srgbClr val="3D557F"/>
            </a:solidFill>
            <a:prstDash val="solid"/>
          </a:ln>
        </p:spPr>
        <p:txBody>
          <a:bodyPr wrap="square" lIns="88898" tIns="25399" rIns="88898" bIns="25399" rtlCol="0" anchor="t">
            <a:sp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tracker.py</a:t>
            </a:r>
            <a:endParaRPr lang="en-US" sz="1300" dirty="0"/>
          </a:p>
        </p:txBody>
      </p:sp>
      <p:sp>
        <p:nvSpPr>
          <p:cNvPr id="29" name="TextBox 38"/>
          <p:cNvSpPr/>
          <p:nvPr/>
        </p:nvSpPr>
        <p:spPr>
          <a:xfrm>
            <a:off x="3003673" y="3945917"/>
            <a:ext cx="1217284" cy="304792"/>
          </a:xfrm>
          <a:prstGeom prst="roundRect">
            <a:avLst>
              <a:gd name="adj" fmla="val 16667"/>
            </a:avLst>
          </a:prstGeom>
          <a:solidFill>
            <a:srgbClr val="0A1A33"/>
          </a:solidFill>
          <a:ln w="12700">
            <a:solidFill>
              <a:srgbClr val="3D557F"/>
            </a:solidFill>
            <a:prstDash val="solid"/>
          </a:ln>
        </p:spPr>
        <p:txBody>
          <a:bodyPr wrap="square" lIns="88898" tIns="25399" rIns="88898" bIns="25399" rtlCol="0" anchor="t">
            <a:sp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visualizer.py</a:t>
            </a:r>
            <a:endParaRPr lang="en-US" sz="1300" dirty="0"/>
          </a:p>
        </p:txBody>
      </p:sp>
      <p:sp>
        <p:nvSpPr>
          <p:cNvPr id="30" name="TextBox 39"/>
          <p:cNvSpPr/>
          <p:nvPr/>
        </p:nvSpPr>
        <p:spPr>
          <a:xfrm>
            <a:off x="4335255" y="3945917"/>
            <a:ext cx="1335947" cy="304792"/>
          </a:xfrm>
          <a:prstGeom prst="roundRect">
            <a:avLst>
              <a:gd name="adj" fmla="val 16667"/>
            </a:avLst>
          </a:prstGeom>
          <a:solidFill>
            <a:srgbClr val="0A1A33"/>
          </a:solidFill>
          <a:ln w="12700">
            <a:solidFill>
              <a:srgbClr val="3D557F"/>
            </a:solidFill>
            <a:prstDash val="solid"/>
          </a:ln>
        </p:spPr>
        <p:txBody>
          <a:bodyPr wrap="square" lIns="88898" tIns="25399" rIns="88898" bIns="25399" rtlCol="0" anchor="t">
            <a:sp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app.py / cli.py</a:t>
            </a:r>
            <a:endParaRPr lang="en-US" sz="1300" dirty="0"/>
          </a:p>
        </p:txBody>
      </p:sp>
      <p:sp>
        <p:nvSpPr>
          <p:cNvPr id="31" name="TextBox 41"/>
          <p:cNvSpPr/>
          <p:nvPr/>
        </p:nvSpPr>
        <p:spPr>
          <a:xfrm>
            <a:off x="5785499" y="3984016"/>
            <a:ext cx="3503426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B9C4D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 modular by design, swappable backbones.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86"/>
            <a:ext cx="12191695" cy="6857829"/>
          </a:xfrm>
          <a:prstGeom prst="rect">
            <a:avLst/>
          </a:prstGeom>
          <a:solidFill>
            <a:srgbClr val="081120"/>
          </a:solidFill>
          <a:ln/>
        </p:spPr>
      </p:sp>
      <p:sp>
        <p:nvSpPr>
          <p:cNvPr id="4" name="Shape 8"/>
          <p:cNvSpPr/>
          <p:nvPr/>
        </p:nvSpPr>
        <p:spPr>
          <a:xfrm>
            <a:off x="609585" y="535953"/>
            <a:ext cx="279393" cy="63498"/>
          </a:xfrm>
          <a:prstGeom prst="rect">
            <a:avLst/>
          </a:prstGeom>
          <a:solidFill>
            <a:srgbClr val="00E5CC"/>
          </a:solidFill>
          <a:ln/>
        </p:spPr>
      </p:sp>
      <p:sp>
        <p:nvSpPr>
          <p:cNvPr id="5" name="TextBox 9"/>
          <p:cNvSpPr/>
          <p:nvPr/>
        </p:nvSpPr>
        <p:spPr>
          <a:xfrm>
            <a:off x="977876" y="457274"/>
            <a:ext cx="3631446" cy="202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b="1" kern="0" spc="168" dirty="0">
                <a:solidFill>
                  <a:srgbClr val="00E5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06 · DATASET &amp; PREPARATION</a:t>
            </a:r>
            <a:endParaRPr lang="en-US" sz="1200" dirty="0"/>
          </a:p>
        </p:txBody>
      </p:sp>
      <p:sp>
        <p:nvSpPr>
          <p:cNvPr id="6" name="TextBox 11"/>
          <p:cNvSpPr/>
          <p:nvPr/>
        </p:nvSpPr>
        <p:spPr>
          <a:xfrm>
            <a:off x="609585" y="843325"/>
            <a:ext cx="4777561" cy="438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456"/>
              </a:lnSpc>
              <a:buNone/>
            </a:pPr>
            <a:r>
              <a:rPr lang="en-US" sz="3200" b="1" kern="0" spc="-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Clean data wins</a:t>
            </a:r>
            <a:endParaRPr lang="en-US" sz="3200" dirty="0"/>
          </a:p>
        </p:txBody>
      </p:sp>
      <p:sp>
        <p:nvSpPr>
          <p:cNvPr id="7" name="TextBox 13"/>
          <p:cNvSpPr/>
          <p:nvPr/>
        </p:nvSpPr>
        <p:spPr>
          <a:xfrm>
            <a:off x="609585" y="1409155"/>
            <a:ext cx="4777561" cy="5891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600" dirty="0">
                <a:solidFill>
                  <a:srgbClr val="B9C4D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Custom annotated data or standard benchmarks — COCO, Pascal VOC.</a:t>
            </a:r>
            <a:endParaRPr lang="en-US" sz="1600" dirty="0"/>
          </a:p>
        </p:txBody>
      </p:sp>
      <p:sp>
        <p:nvSpPr>
          <p:cNvPr id="8" name="Shape 15"/>
          <p:cNvSpPr/>
          <p:nvPr/>
        </p:nvSpPr>
        <p:spPr>
          <a:xfrm>
            <a:off x="609585" y="2226896"/>
            <a:ext cx="4777561" cy="565136"/>
          </a:xfrm>
          <a:prstGeom prst="roundRect">
            <a:avLst>
              <a:gd name="adj" fmla="val 13483"/>
            </a:avLst>
          </a:prstGeom>
          <a:noFill/>
          <a:ln w="12700">
            <a:solidFill>
              <a:srgbClr val="3D557F"/>
            </a:solidFill>
            <a:prstDash val="solid"/>
          </a:ln>
        </p:spPr>
      </p:sp>
      <p:sp>
        <p:nvSpPr>
          <p:cNvPr id="9" name="TextBox 17"/>
          <p:cNvSpPr/>
          <p:nvPr/>
        </p:nvSpPr>
        <p:spPr>
          <a:xfrm>
            <a:off x="622284" y="2239595"/>
            <a:ext cx="3410559" cy="539737"/>
          </a:xfrm>
          <a:prstGeom prst="rect">
            <a:avLst/>
          </a:prstGeom>
          <a:solidFill>
            <a:srgbClr val="00E5CC"/>
          </a:solidFill>
          <a:ln/>
        </p:spPr>
        <p:txBody>
          <a:bodyPr wrap="square" lIns="139697" tIns="139697" rIns="139697" bIns="139697" rtlCol="0" anchor="t">
            <a:sp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281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80% Train</a:t>
            </a:r>
            <a:endParaRPr lang="en-US" sz="1500" dirty="0"/>
          </a:p>
        </p:txBody>
      </p:sp>
      <p:sp>
        <p:nvSpPr>
          <p:cNvPr id="10" name="TextBox 19"/>
          <p:cNvSpPr/>
          <p:nvPr/>
        </p:nvSpPr>
        <p:spPr>
          <a:xfrm>
            <a:off x="4032844" y="2239595"/>
            <a:ext cx="670801" cy="539737"/>
          </a:xfrm>
          <a:prstGeom prst="rect">
            <a:avLst/>
          </a:prstGeom>
          <a:solidFill>
            <a:srgbClr val="7C8CFF"/>
          </a:solidFill>
          <a:ln/>
        </p:spPr>
        <p:txBody>
          <a:bodyPr wrap="square" lIns="139697" tIns="139697" rIns="139697" bIns="139697" rtlCol="0" anchor="t">
            <a:sp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173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10%</a:t>
            </a:r>
            <a:endParaRPr lang="en-US" sz="1300" dirty="0"/>
          </a:p>
        </p:txBody>
      </p:sp>
      <p:sp>
        <p:nvSpPr>
          <p:cNvPr id="11" name="TextBox 21"/>
          <p:cNvSpPr/>
          <p:nvPr/>
        </p:nvSpPr>
        <p:spPr>
          <a:xfrm>
            <a:off x="4703645" y="2239595"/>
            <a:ext cx="670801" cy="539737"/>
          </a:xfrm>
          <a:prstGeom prst="rect">
            <a:avLst/>
          </a:prstGeom>
          <a:solidFill>
            <a:srgbClr val="FFB224"/>
          </a:solidFill>
          <a:ln/>
        </p:spPr>
        <p:txBody>
          <a:bodyPr wrap="square" lIns="139697" tIns="139697" rIns="139697" bIns="139697" rtlCol="0" anchor="t">
            <a:sp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A24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10%</a:t>
            </a:r>
            <a:endParaRPr lang="en-US" sz="1300" dirty="0"/>
          </a:p>
        </p:txBody>
      </p:sp>
      <p:sp>
        <p:nvSpPr>
          <p:cNvPr id="12" name="TextBox 24"/>
          <p:cNvSpPr/>
          <p:nvPr/>
        </p:nvSpPr>
        <p:spPr>
          <a:xfrm>
            <a:off x="609585" y="2868230"/>
            <a:ext cx="4777561" cy="220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B9C4D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Train 80% · Validation 10% · Test 10%</a:t>
            </a:r>
            <a:endParaRPr lang="en-US" sz="1200" dirty="0"/>
          </a:p>
        </p:txBody>
      </p:sp>
      <p:sp>
        <p:nvSpPr>
          <p:cNvPr id="13" name="Shape 29"/>
          <p:cNvSpPr/>
          <p:nvPr/>
        </p:nvSpPr>
        <p:spPr>
          <a:xfrm>
            <a:off x="5742737" y="1574946"/>
            <a:ext cx="5839374" cy="1051593"/>
          </a:xfrm>
          <a:prstGeom prst="roundRect">
            <a:avLst>
              <a:gd name="adj" fmla="val 8454"/>
            </a:avLst>
          </a:prstGeom>
          <a:solidFill>
            <a:srgbClr val="12213D"/>
          </a:solidFill>
          <a:ln w="12700">
            <a:solidFill>
              <a:srgbClr val="2A3D63"/>
            </a:solidFill>
            <a:prstDash val="solid"/>
          </a:ln>
        </p:spPr>
      </p:sp>
      <p:sp>
        <p:nvSpPr>
          <p:cNvPr id="14" name="TextBox 30"/>
          <p:cNvSpPr/>
          <p:nvPr/>
        </p:nvSpPr>
        <p:spPr>
          <a:xfrm>
            <a:off x="5996731" y="1816240"/>
            <a:ext cx="5331386" cy="2315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24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Resize to standard input</a:t>
            </a:r>
            <a:endParaRPr lang="en-US" sz="1600" dirty="0"/>
          </a:p>
        </p:txBody>
      </p:sp>
      <p:sp>
        <p:nvSpPr>
          <p:cNvPr id="15" name="TextBox 31"/>
          <p:cNvSpPr/>
          <p:nvPr/>
        </p:nvSpPr>
        <p:spPr>
          <a:xfrm>
            <a:off x="5996731" y="2136708"/>
            <a:ext cx="5331386" cy="248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57"/>
              </a:lnSpc>
              <a:buNone/>
            </a:pPr>
            <a:r>
              <a:rPr lang="en-US" sz="1350" dirty="0">
                <a:solidFill>
                  <a:srgbClr val="B9C4D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416 × 416 or 640 × 640 — fixed tensor, predictable latency.</a:t>
            </a:r>
            <a:endParaRPr lang="en-US" sz="1350" dirty="0"/>
          </a:p>
        </p:txBody>
      </p:sp>
      <p:sp>
        <p:nvSpPr>
          <p:cNvPr id="16" name="Shape 33"/>
          <p:cNvSpPr/>
          <p:nvPr/>
        </p:nvSpPr>
        <p:spPr>
          <a:xfrm>
            <a:off x="5742737" y="2778935"/>
            <a:ext cx="5839374" cy="1300130"/>
          </a:xfrm>
          <a:prstGeom prst="roundRect">
            <a:avLst>
              <a:gd name="adj" fmla="val 6838"/>
            </a:avLst>
          </a:prstGeom>
          <a:solidFill>
            <a:srgbClr val="12213D"/>
          </a:solidFill>
          <a:ln w="12700">
            <a:solidFill>
              <a:srgbClr val="2A3D63"/>
            </a:solidFill>
            <a:prstDash val="solid"/>
          </a:ln>
        </p:spPr>
      </p:sp>
      <p:sp>
        <p:nvSpPr>
          <p:cNvPr id="17" name="TextBox 34"/>
          <p:cNvSpPr/>
          <p:nvPr/>
        </p:nvSpPr>
        <p:spPr>
          <a:xfrm>
            <a:off x="5996731" y="3020229"/>
            <a:ext cx="5331386" cy="2315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24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Augment for robustness</a:t>
            </a:r>
            <a:endParaRPr lang="en-US" sz="1600" dirty="0"/>
          </a:p>
        </p:txBody>
      </p:sp>
      <p:sp>
        <p:nvSpPr>
          <p:cNvPr id="18" name="TextBox 35"/>
          <p:cNvSpPr/>
          <p:nvPr/>
        </p:nvSpPr>
        <p:spPr>
          <a:xfrm>
            <a:off x="5996731" y="3340698"/>
            <a:ext cx="5331386" cy="4970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57"/>
              </a:lnSpc>
              <a:buNone/>
            </a:pPr>
            <a:r>
              <a:rPr lang="en-US" sz="1350" dirty="0">
                <a:solidFill>
                  <a:srgbClr val="B9C4D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Rotation · brightness · scaling — lighting, angle, and scale invariance.</a:t>
            </a:r>
            <a:endParaRPr lang="en-US" sz="1350" dirty="0"/>
          </a:p>
        </p:txBody>
      </p:sp>
      <p:sp>
        <p:nvSpPr>
          <p:cNvPr id="19" name="Shape 37"/>
          <p:cNvSpPr/>
          <p:nvPr/>
        </p:nvSpPr>
        <p:spPr>
          <a:xfrm>
            <a:off x="5742737" y="4231461"/>
            <a:ext cx="5839374" cy="1051593"/>
          </a:xfrm>
          <a:prstGeom prst="roundRect">
            <a:avLst>
              <a:gd name="adj" fmla="val 8454"/>
            </a:avLst>
          </a:prstGeom>
          <a:solidFill>
            <a:srgbClr val="12213D"/>
          </a:solidFill>
          <a:ln w="12700">
            <a:solidFill>
              <a:srgbClr val="2A3D63"/>
            </a:solidFill>
            <a:prstDash val="solid"/>
          </a:ln>
        </p:spPr>
      </p:sp>
      <p:sp>
        <p:nvSpPr>
          <p:cNvPr id="20" name="TextBox 38"/>
          <p:cNvSpPr/>
          <p:nvPr/>
        </p:nvSpPr>
        <p:spPr>
          <a:xfrm>
            <a:off x="5996731" y="4472755"/>
            <a:ext cx="5331386" cy="2315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24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Annotate consistently</a:t>
            </a:r>
            <a:endParaRPr lang="en-US" sz="1600" dirty="0"/>
          </a:p>
        </p:txBody>
      </p:sp>
      <p:sp>
        <p:nvSpPr>
          <p:cNvPr id="21" name="TextBox 39"/>
          <p:cNvSpPr/>
          <p:nvPr/>
        </p:nvSpPr>
        <p:spPr>
          <a:xfrm>
            <a:off x="5996731" y="4793224"/>
            <a:ext cx="5331386" cy="248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57"/>
              </a:lnSpc>
              <a:buNone/>
            </a:pPr>
            <a:r>
              <a:rPr lang="en-US" sz="1350" dirty="0">
                <a:solidFill>
                  <a:srgbClr val="B9C4D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Tight boxes, correct classes, reviewed edge cases before training.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86"/>
            <a:ext cx="12191695" cy="6857829"/>
          </a:xfrm>
          <a:prstGeom prst="rect">
            <a:avLst/>
          </a:prstGeom>
          <a:solidFill>
            <a:srgbClr val="081120"/>
          </a:solidFill>
          <a:ln/>
        </p:spPr>
      </p:sp>
      <p:sp>
        <p:nvSpPr>
          <p:cNvPr id="4" name="Shape 6"/>
          <p:cNvSpPr/>
          <p:nvPr/>
        </p:nvSpPr>
        <p:spPr>
          <a:xfrm>
            <a:off x="609585" y="535953"/>
            <a:ext cx="279393" cy="63498"/>
          </a:xfrm>
          <a:prstGeom prst="rect">
            <a:avLst/>
          </a:prstGeom>
          <a:solidFill>
            <a:srgbClr val="00E5CC"/>
          </a:solidFill>
          <a:ln/>
        </p:spPr>
      </p:sp>
      <p:sp>
        <p:nvSpPr>
          <p:cNvPr id="5" name="TextBox 7"/>
          <p:cNvSpPr/>
          <p:nvPr/>
        </p:nvSpPr>
        <p:spPr>
          <a:xfrm>
            <a:off x="977876" y="457274"/>
            <a:ext cx="3570198" cy="220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b="1" kern="0" spc="168" dirty="0">
                <a:solidFill>
                  <a:srgbClr val="00E5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07 · MODEL TRAINING &amp; FINE-TUNING</a:t>
            </a:r>
            <a:endParaRPr lang="en-US" sz="1200" dirty="0"/>
          </a:p>
        </p:txBody>
      </p:sp>
      <p:sp>
        <p:nvSpPr>
          <p:cNvPr id="6" name="TextBox 9"/>
          <p:cNvSpPr/>
          <p:nvPr/>
        </p:nvSpPr>
        <p:spPr>
          <a:xfrm>
            <a:off x="609585" y="843325"/>
            <a:ext cx="9397765" cy="438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456"/>
              </a:lnSpc>
              <a:buNone/>
            </a:pPr>
            <a:r>
              <a:rPr lang="en-US" sz="3200" b="1" kern="0" spc="-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Train for both what and where</a:t>
            </a:r>
            <a:endParaRPr lang="en-US" sz="3200" dirty="0"/>
          </a:p>
        </p:txBody>
      </p:sp>
      <p:sp>
        <p:nvSpPr>
          <p:cNvPr id="7" name="Shape 13"/>
          <p:cNvSpPr/>
          <p:nvPr/>
        </p:nvSpPr>
        <p:spPr>
          <a:xfrm>
            <a:off x="609585" y="1586951"/>
            <a:ext cx="3505112" cy="1650264"/>
          </a:xfrm>
          <a:prstGeom prst="roundRect">
            <a:avLst>
              <a:gd name="adj" fmla="val 5387"/>
            </a:avLst>
          </a:prstGeom>
          <a:solidFill>
            <a:srgbClr val="12213D"/>
          </a:solidFill>
          <a:ln/>
        </p:spPr>
      </p:sp>
      <p:pic>
        <p:nvPicPr>
          <p:cNvPr id="8" name="Picture 13" descr="__type_imag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585" y="1586951"/>
            <a:ext cx="3505112" cy="1650264"/>
          </a:xfrm>
          <a:prstGeom prst="rect">
            <a:avLst/>
          </a:prstGeom>
        </p:spPr>
      </p:pic>
      <p:sp>
        <p:nvSpPr>
          <p:cNvPr id="9" name="TextBox 14"/>
          <p:cNvSpPr/>
          <p:nvPr/>
        </p:nvSpPr>
        <p:spPr>
          <a:xfrm>
            <a:off x="863578" y="1866344"/>
            <a:ext cx="2997125" cy="248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57"/>
              </a:lnSpc>
              <a:buNone/>
            </a:pPr>
            <a:r>
              <a:rPr lang="en-US" sz="1350" b="1" kern="0" spc="162" dirty="0">
                <a:solidFill>
                  <a:srgbClr val="B9C4D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LOSS</a:t>
            </a:r>
            <a:endParaRPr lang="en-US" sz="1350" dirty="0"/>
          </a:p>
        </p:txBody>
      </p:sp>
      <p:sp>
        <p:nvSpPr>
          <p:cNvPr id="10" name="TextBox 15"/>
          <p:cNvSpPr/>
          <p:nvPr/>
        </p:nvSpPr>
        <p:spPr>
          <a:xfrm>
            <a:off x="863578" y="2178379"/>
            <a:ext cx="2997125" cy="2315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24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Classify + localize</a:t>
            </a:r>
            <a:endParaRPr lang="en-US" sz="1600" dirty="0"/>
          </a:p>
        </p:txBody>
      </p:sp>
      <p:sp>
        <p:nvSpPr>
          <p:cNvPr id="11" name="TextBox 16"/>
          <p:cNvSpPr/>
          <p:nvPr/>
        </p:nvSpPr>
        <p:spPr>
          <a:xfrm>
            <a:off x="863578" y="2498847"/>
            <a:ext cx="2997125" cy="4970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57"/>
              </a:lnSpc>
              <a:buNone/>
            </a:pPr>
            <a:r>
              <a:rPr lang="en-US" sz="1350" dirty="0">
                <a:solidFill>
                  <a:srgbClr val="B9C4D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Classification loss + bounding-box regression loss, jointly optimized.</a:t>
            </a:r>
            <a:endParaRPr lang="en-US" sz="1350" dirty="0"/>
          </a:p>
        </p:txBody>
      </p:sp>
      <p:sp>
        <p:nvSpPr>
          <p:cNvPr id="12" name="Shape 18"/>
          <p:cNvSpPr/>
          <p:nvPr/>
        </p:nvSpPr>
        <p:spPr>
          <a:xfrm>
            <a:off x="4343291" y="1586951"/>
            <a:ext cx="3505112" cy="1650264"/>
          </a:xfrm>
          <a:prstGeom prst="roundRect">
            <a:avLst>
              <a:gd name="adj" fmla="val 5387"/>
            </a:avLst>
          </a:prstGeom>
          <a:solidFill>
            <a:srgbClr val="12213D"/>
          </a:solidFill>
          <a:ln/>
        </p:spPr>
      </p:sp>
      <p:pic>
        <p:nvPicPr>
          <p:cNvPr id="13" name="Picture 18" descr="__type_imag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3291" y="1586951"/>
            <a:ext cx="3505112" cy="1650264"/>
          </a:xfrm>
          <a:prstGeom prst="rect">
            <a:avLst/>
          </a:prstGeom>
        </p:spPr>
      </p:pic>
      <p:sp>
        <p:nvSpPr>
          <p:cNvPr id="14" name="TextBox 19"/>
          <p:cNvSpPr/>
          <p:nvPr/>
        </p:nvSpPr>
        <p:spPr>
          <a:xfrm>
            <a:off x="4597285" y="1866344"/>
            <a:ext cx="2997125" cy="248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57"/>
              </a:lnSpc>
              <a:buNone/>
            </a:pPr>
            <a:r>
              <a:rPr lang="en-US" sz="1350" b="1" kern="0" spc="162" dirty="0">
                <a:solidFill>
                  <a:srgbClr val="B9C4D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OPTIMIZER</a:t>
            </a:r>
            <a:endParaRPr lang="en-US" sz="1350" dirty="0"/>
          </a:p>
        </p:txBody>
      </p:sp>
      <p:sp>
        <p:nvSpPr>
          <p:cNvPr id="15" name="TextBox 20"/>
          <p:cNvSpPr/>
          <p:nvPr/>
        </p:nvSpPr>
        <p:spPr>
          <a:xfrm>
            <a:off x="4597285" y="2178379"/>
            <a:ext cx="2997125" cy="2315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24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Adam / SGD</a:t>
            </a:r>
            <a:endParaRPr lang="en-US" sz="1600" dirty="0"/>
          </a:p>
        </p:txBody>
      </p:sp>
      <p:sp>
        <p:nvSpPr>
          <p:cNvPr id="16" name="TextBox 21"/>
          <p:cNvSpPr/>
          <p:nvPr/>
        </p:nvSpPr>
        <p:spPr>
          <a:xfrm>
            <a:off x="4597285" y="2498847"/>
            <a:ext cx="2997125" cy="4970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57"/>
              </a:lnSpc>
              <a:buNone/>
            </a:pPr>
            <a:r>
              <a:rPr lang="en-US" sz="1350" dirty="0">
                <a:solidFill>
                  <a:srgbClr val="B9C4D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Learning-rate scheduling; tuned batch size, epochs, IoU thresholds.</a:t>
            </a:r>
            <a:endParaRPr lang="en-US" sz="1350" dirty="0"/>
          </a:p>
        </p:txBody>
      </p:sp>
      <p:sp>
        <p:nvSpPr>
          <p:cNvPr id="17" name="Shape 23"/>
          <p:cNvSpPr/>
          <p:nvPr/>
        </p:nvSpPr>
        <p:spPr>
          <a:xfrm>
            <a:off x="8076998" y="1586951"/>
            <a:ext cx="3505112" cy="1650264"/>
          </a:xfrm>
          <a:prstGeom prst="roundRect">
            <a:avLst>
              <a:gd name="adj" fmla="val 5387"/>
            </a:avLst>
          </a:prstGeom>
          <a:solidFill>
            <a:srgbClr val="12213D"/>
          </a:solidFill>
          <a:ln/>
        </p:spPr>
      </p:sp>
      <p:pic>
        <p:nvPicPr>
          <p:cNvPr id="18" name="Picture 23" descr="__type_imag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76998" y="1586951"/>
            <a:ext cx="3505112" cy="1650264"/>
          </a:xfrm>
          <a:prstGeom prst="rect">
            <a:avLst/>
          </a:prstGeom>
        </p:spPr>
      </p:pic>
      <p:sp>
        <p:nvSpPr>
          <p:cNvPr id="19" name="TextBox 24"/>
          <p:cNvSpPr/>
          <p:nvPr/>
        </p:nvSpPr>
        <p:spPr>
          <a:xfrm>
            <a:off x="8330992" y="1866344"/>
            <a:ext cx="2997125" cy="248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57"/>
              </a:lnSpc>
              <a:buNone/>
            </a:pPr>
            <a:r>
              <a:rPr lang="en-US" sz="1350" b="1" kern="0" spc="162" dirty="0">
                <a:solidFill>
                  <a:srgbClr val="B9C4D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CHALLENGES</a:t>
            </a:r>
            <a:endParaRPr lang="en-US" sz="1350" dirty="0"/>
          </a:p>
        </p:txBody>
      </p:sp>
      <p:sp>
        <p:nvSpPr>
          <p:cNvPr id="20" name="TextBox 25"/>
          <p:cNvSpPr/>
          <p:nvPr/>
        </p:nvSpPr>
        <p:spPr>
          <a:xfrm>
            <a:off x="8330992" y="2178379"/>
            <a:ext cx="2997125" cy="2315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24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Imbalance · occlusion</a:t>
            </a:r>
            <a:endParaRPr lang="en-US" sz="1600" dirty="0"/>
          </a:p>
        </p:txBody>
      </p:sp>
      <p:sp>
        <p:nvSpPr>
          <p:cNvPr id="21" name="TextBox 26"/>
          <p:cNvSpPr/>
          <p:nvPr/>
        </p:nvSpPr>
        <p:spPr>
          <a:xfrm>
            <a:off x="8330992" y="2498847"/>
            <a:ext cx="2997125" cy="4970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57"/>
              </a:lnSpc>
              <a:buNone/>
            </a:pPr>
            <a:r>
              <a:rPr lang="en-US" sz="1350" dirty="0">
                <a:solidFill>
                  <a:srgbClr val="B9C4D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Handled class imbalance, occlusion, and varying lighting.</a:t>
            </a:r>
            <a:endParaRPr lang="en-US" sz="1350" dirty="0"/>
          </a:p>
        </p:txBody>
      </p:sp>
      <p:sp>
        <p:nvSpPr>
          <p:cNvPr id="22" name="Shape 29"/>
          <p:cNvSpPr/>
          <p:nvPr/>
        </p:nvSpPr>
        <p:spPr>
          <a:xfrm>
            <a:off x="609585" y="3440410"/>
            <a:ext cx="10972526" cy="812780"/>
          </a:xfrm>
          <a:prstGeom prst="roundRect">
            <a:avLst>
              <a:gd name="adj" fmla="val 10937"/>
            </a:avLst>
          </a:prstGeom>
          <a:solidFill>
            <a:srgbClr val="12213D"/>
          </a:solidFill>
          <a:ln w="12700">
            <a:solidFill>
              <a:srgbClr val="2A3D63"/>
            </a:solidFill>
            <a:prstDash val="solid"/>
          </a:ln>
        </p:spPr>
      </p:sp>
      <p:sp>
        <p:nvSpPr>
          <p:cNvPr id="23" name="TextBox 31"/>
          <p:cNvSpPr/>
          <p:nvPr/>
        </p:nvSpPr>
        <p:spPr>
          <a:xfrm>
            <a:off x="863578" y="3717918"/>
            <a:ext cx="6867651" cy="2577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200" b="1" kern="0" spc="144" dirty="0">
                <a:solidFill>
                  <a:srgbClr val="B9C4D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TUNING LEVERS:</a:t>
            </a:r>
            <a:r>
              <a:rPr lang="en-US" sz="1400" dirty="0">
                <a:solidFill>
                  <a:srgbClr val="B9C4D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batch size · epochs · confidence threshold · IoU / NMS threshold</a:t>
            </a:r>
            <a:endParaRPr lang="en-US" sz="1200" dirty="0"/>
          </a:p>
        </p:txBody>
      </p:sp>
      <p:sp>
        <p:nvSpPr>
          <p:cNvPr id="24" name="TextBox 33"/>
          <p:cNvSpPr/>
          <p:nvPr/>
        </p:nvSpPr>
        <p:spPr>
          <a:xfrm>
            <a:off x="9121140" y="3662865"/>
            <a:ext cx="2206976" cy="367871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D557F"/>
            </a:solidFill>
            <a:prstDash val="solid"/>
          </a:ln>
        </p:spPr>
        <p:txBody>
          <a:bodyPr wrap="square" lIns="139697" tIns="38099" rIns="139697" bIns="38099" rtlCol="0" anchor="ctr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9C4D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IoU 0.50+ · NMS 0.45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86"/>
            <a:ext cx="12191695" cy="6857829"/>
          </a:xfrm>
          <a:prstGeom prst="rect">
            <a:avLst/>
          </a:prstGeom>
          <a:solidFill>
            <a:srgbClr val="081120"/>
          </a:solidFill>
          <a:ln/>
        </p:spPr>
      </p:sp>
      <p:sp>
        <p:nvSpPr>
          <p:cNvPr id="4" name="Shape 6"/>
          <p:cNvSpPr/>
          <p:nvPr/>
        </p:nvSpPr>
        <p:spPr>
          <a:xfrm>
            <a:off x="609585" y="535953"/>
            <a:ext cx="279393" cy="63498"/>
          </a:xfrm>
          <a:prstGeom prst="rect">
            <a:avLst/>
          </a:prstGeom>
          <a:solidFill>
            <a:srgbClr val="00E5CC"/>
          </a:solidFill>
          <a:ln/>
        </p:spPr>
      </p:sp>
      <p:sp>
        <p:nvSpPr>
          <p:cNvPr id="5" name="TextBox 7"/>
          <p:cNvSpPr/>
          <p:nvPr/>
        </p:nvSpPr>
        <p:spPr>
          <a:xfrm>
            <a:off x="977876" y="457274"/>
            <a:ext cx="4209944" cy="202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b="1" kern="0" spc="168" dirty="0">
                <a:solidFill>
                  <a:srgbClr val="00E5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08 · CORE CODE MODULES</a:t>
            </a:r>
            <a:endParaRPr lang="en-US" sz="1200" dirty="0"/>
          </a:p>
        </p:txBody>
      </p:sp>
      <p:sp>
        <p:nvSpPr>
          <p:cNvPr id="6" name="TextBox 9"/>
          <p:cNvSpPr/>
          <p:nvPr/>
        </p:nvSpPr>
        <p:spPr>
          <a:xfrm>
            <a:off x="609585" y="843325"/>
            <a:ext cx="9397765" cy="438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456"/>
              </a:lnSpc>
              <a:buNone/>
            </a:pPr>
            <a:r>
              <a:rPr lang="en-US" sz="3200" b="1" kern="0" spc="-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Four modules, two entry points</a:t>
            </a:r>
            <a:endParaRPr lang="en-US" sz="3200" dirty="0"/>
          </a:p>
        </p:txBody>
      </p:sp>
      <p:sp>
        <p:nvSpPr>
          <p:cNvPr id="7" name="Shape 13"/>
          <p:cNvSpPr/>
          <p:nvPr/>
        </p:nvSpPr>
        <p:spPr>
          <a:xfrm>
            <a:off x="609585" y="1586951"/>
            <a:ext cx="2609785" cy="1980456"/>
          </a:xfrm>
          <a:prstGeom prst="roundRect">
            <a:avLst>
              <a:gd name="adj" fmla="val 4489"/>
            </a:avLst>
          </a:prstGeom>
          <a:solidFill>
            <a:srgbClr val="12213D"/>
          </a:solidFill>
          <a:ln/>
        </p:spPr>
      </p:sp>
      <p:pic>
        <p:nvPicPr>
          <p:cNvPr id="8" name="Picture 13" descr="__type_imag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585" y="1586951"/>
            <a:ext cx="2609785" cy="1980456"/>
          </a:xfrm>
          <a:prstGeom prst="rect">
            <a:avLst/>
          </a:prstGeom>
        </p:spPr>
      </p:pic>
      <p:sp>
        <p:nvSpPr>
          <p:cNvPr id="9" name="TextBox 14"/>
          <p:cNvSpPr/>
          <p:nvPr/>
        </p:nvSpPr>
        <p:spPr>
          <a:xfrm>
            <a:off x="863578" y="1866344"/>
            <a:ext cx="1133844" cy="304792"/>
          </a:xfrm>
          <a:prstGeom prst="roundRect">
            <a:avLst>
              <a:gd name="adj" fmla="val 16667"/>
            </a:avLst>
          </a:prstGeom>
          <a:solidFill>
            <a:srgbClr val="0A1A33"/>
          </a:solidFill>
          <a:ln w="12700">
            <a:solidFill>
              <a:srgbClr val="3D557F"/>
            </a:solidFill>
            <a:prstDash val="solid"/>
          </a:ln>
        </p:spPr>
        <p:txBody>
          <a:bodyPr wrap="square" lIns="88898" tIns="25399" rIns="88898" bIns="25399" rtlCol="0" anchor="t">
            <a:sp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highlight>
                  <a:srgbClr val="0A1A33"/>
                </a:highlight>
                <a:latin typeface="Noto Sans" pitchFamily="34" charset="0"/>
                <a:ea typeface="Noto Sans" pitchFamily="34" charset="-122"/>
                <a:cs typeface="Noto Sans" pitchFamily="34" charset="-120"/>
              </a:rPr>
              <a:t>detector.py</a:t>
            </a:r>
            <a:endParaRPr lang="en-US" sz="1300" dirty="0"/>
          </a:p>
        </p:txBody>
      </p:sp>
      <p:sp>
        <p:nvSpPr>
          <p:cNvPr id="10" name="TextBox 15"/>
          <p:cNvSpPr/>
          <p:nvPr/>
        </p:nvSpPr>
        <p:spPr>
          <a:xfrm>
            <a:off x="863578" y="2260034"/>
            <a:ext cx="2101797" cy="2315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24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Load + forward</a:t>
            </a:r>
            <a:endParaRPr lang="en-US" sz="1600" dirty="0"/>
          </a:p>
        </p:txBody>
      </p:sp>
      <p:sp>
        <p:nvSpPr>
          <p:cNvPr id="11" name="TextBox 16"/>
          <p:cNvSpPr/>
          <p:nvPr/>
        </p:nvSpPr>
        <p:spPr>
          <a:xfrm>
            <a:off x="863578" y="2580502"/>
            <a:ext cx="2101797" cy="745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57"/>
              </a:lnSpc>
              <a:buNone/>
            </a:pPr>
            <a:r>
              <a:rPr lang="en-US" sz="1350" dirty="0">
                <a:solidFill>
                  <a:srgbClr val="B9C4D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Model loading, forward passes, raw box extraction.</a:t>
            </a:r>
            <a:endParaRPr lang="en-US" sz="1350" dirty="0"/>
          </a:p>
        </p:txBody>
      </p:sp>
      <p:sp>
        <p:nvSpPr>
          <p:cNvPr id="12" name="Shape 18"/>
          <p:cNvSpPr/>
          <p:nvPr/>
        </p:nvSpPr>
        <p:spPr>
          <a:xfrm>
            <a:off x="3397165" y="1586951"/>
            <a:ext cx="2609785" cy="1980456"/>
          </a:xfrm>
          <a:prstGeom prst="roundRect">
            <a:avLst>
              <a:gd name="adj" fmla="val 4489"/>
            </a:avLst>
          </a:prstGeom>
          <a:solidFill>
            <a:srgbClr val="12213D"/>
          </a:solidFill>
          <a:ln/>
        </p:spPr>
      </p:sp>
      <p:pic>
        <p:nvPicPr>
          <p:cNvPr id="13" name="Picture 18" descr="__type_imag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7165" y="1586951"/>
            <a:ext cx="2609785" cy="1980456"/>
          </a:xfrm>
          <a:prstGeom prst="rect">
            <a:avLst/>
          </a:prstGeom>
        </p:spPr>
      </p:pic>
      <p:sp>
        <p:nvSpPr>
          <p:cNvPr id="14" name="TextBox 19"/>
          <p:cNvSpPr/>
          <p:nvPr/>
        </p:nvSpPr>
        <p:spPr>
          <a:xfrm>
            <a:off x="3651159" y="1866344"/>
            <a:ext cx="1031651" cy="304792"/>
          </a:xfrm>
          <a:prstGeom prst="roundRect">
            <a:avLst>
              <a:gd name="adj" fmla="val 16667"/>
            </a:avLst>
          </a:prstGeom>
          <a:solidFill>
            <a:srgbClr val="0A1A33"/>
          </a:solidFill>
          <a:ln w="12700">
            <a:solidFill>
              <a:srgbClr val="3D557F"/>
            </a:solidFill>
            <a:prstDash val="solid"/>
          </a:ln>
        </p:spPr>
        <p:txBody>
          <a:bodyPr wrap="square" lIns="88898" tIns="25399" rIns="88898" bIns="25399" rtlCol="0" anchor="t">
            <a:sp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highlight>
                  <a:srgbClr val="0A1A33"/>
                </a:highlight>
                <a:latin typeface="Noto Sans" pitchFamily="34" charset="0"/>
                <a:ea typeface="Noto Sans" pitchFamily="34" charset="-122"/>
                <a:cs typeface="Noto Sans" pitchFamily="34" charset="-120"/>
              </a:rPr>
              <a:t>tracker.py</a:t>
            </a:r>
            <a:endParaRPr lang="en-US" sz="1300" dirty="0"/>
          </a:p>
        </p:txBody>
      </p:sp>
      <p:sp>
        <p:nvSpPr>
          <p:cNvPr id="15" name="TextBox 20"/>
          <p:cNvSpPr/>
          <p:nvPr/>
        </p:nvSpPr>
        <p:spPr>
          <a:xfrm>
            <a:off x="3651159" y="2260034"/>
            <a:ext cx="2101797" cy="2315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24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Persist + follow</a:t>
            </a:r>
            <a:endParaRPr lang="en-US" sz="1600" dirty="0"/>
          </a:p>
        </p:txBody>
      </p:sp>
      <p:sp>
        <p:nvSpPr>
          <p:cNvPr id="16" name="TextBox 21"/>
          <p:cNvSpPr/>
          <p:nvPr/>
        </p:nvSpPr>
        <p:spPr>
          <a:xfrm>
            <a:off x="3651159" y="2580502"/>
            <a:ext cx="2101797" cy="4970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57"/>
              </a:lnSpc>
              <a:buNone/>
            </a:pPr>
            <a:r>
              <a:rPr lang="en-US" sz="1350" dirty="0">
                <a:solidFill>
                  <a:srgbClr val="B9C4D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Object persistence and trajectory across frames.</a:t>
            </a:r>
            <a:endParaRPr lang="en-US" sz="1350" dirty="0"/>
          </a:p>
        </p:txBody>
      </p:sp>
      <p:sp>
        <p:nvSpPr>
          <p:cNvPr id="17" name="Shape 23"/>
          <p:cNvSpPr/>
          <p:nvPr/>
        </p:nvSpPr>
        <p:spPr>
          <a:xfrm>
            <a:off x="6184745" y="1586951"/>
            <a:ext cx="2609785" cy="1980456"/>
          </a:xfrm>
          <a:prstGeom prst="roundRect">
            <a:avLst>
              <a:gd name="adj" fmla="val 4489"/>
            </a:avLst>
          </a:prstGeom>
          <a:solidFill>
            <a:srgbClr val="12213D"/>
          </a:solidFill>
          <a:ln/>
        </p:spPr>
      </p:sp>
      <p:pic>
        <p:nvPicPr>
          <p:cNvPr id="18" name="Picture 23" descr="__type_imag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84745" y="1586951"/>
            <a:ext cx="2609785" cy="1980456"/>
          </a:xfrm>
          <a:prstGeom prst="rect">
            <a:avLst/>
          </a:prstGeom>
        </p:spPr>
      </p:pic>
      <p:sp>
        <p:nvSpPr>
          <p:cNvPr id="19" name="TextBox 24"/>
          <p:cNvSpPr/>
          <p:nvPr/>
        </p:nvSpPr>
        <p:spPr>
          <a:xfrm>
            <a:off x="6438739" y="1866344"/>
            <a:ext cx="1217284" cy="304792"/>
          </a:xfrm>
          <a:prstGeom prst="roundRect">
            <a:avLst>
              <a:gd name="adj" fmla="val 16667"/>
            </a:avLst>
          </a:prstGeom>
          <a:solidFill>
            <a:srgbClr val="0A1A33"/>
          </a:solidFill>
          <a:ln w="12700">
            <a:solidFill>
              <a:srgbClr val="3D557F"/>
            </a:solidFill>
            <a:prstDash val="solid"/>
          </a:ln>
        </p:spPr>
        <p:txBody>
          <a:bodyPr wrap="square" lIns="88898" tIns="25399" rIns="88898" bIns="25399" rtlCol="0" anchor="t">
            <a:sp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highlight>
                  <a:srgbClr val="0A1A33"/>
                </a:highlight>
                <a:latin typeface="Noto Sans" pitchFamily="34" charset="0"/>
                <a:ea typeface="Noto Sans" pitchFamily="34" charset="-122"/>
                <a:cs typeface="Noto Sans" pitchFamily="34" charset="-120"/>
              </a:rPr>
              <a:t>visualizer.py</a:t>
            </a:r>
            <a:endParaRPr lang="en-US" sz="1300" dirty="0"/>
          </a:p>
        </p:txBody>
      </p:sp>
      <p:sp>
        <p:nvSpPr>
          <p:cNvPr id="20" name="TextBox 25"/>
          <p:cNvSpPr/>
          <p:nvPr/>
        </p:nvSpPr>
        <p:spPr>
          <a:xfrm>
            <a:off x="6438739" y="2260034"/>
            <a:ext cx="2101797" cy="2315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24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Render overlays</a:t>
            </a:r>
            <a:endParaRPr lang="en-US" sz="1600" dirty="0"/>
          </a:p>
        </p:txBody>
      </p:sp>
      <p:sp>
        <p:nvSpPr>
          <p:cNvPr id="21" name="TextBox 26"/>
          <p:cNvSpPr/>
          <p:nvPr/>
        </p:nvSpPr>
        <p:spPr>
          <a:xfrm>
            <a:off x="6438739" y="2580502"/>
            <a:ext cx="2101797" cy="4970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57"/>
              </a:lnSpc>
              <a:buNone/>
            </a:pPr>
            <a:r>
              <a:rPr lang="en-US" sz="1350" dirty="0">
                <a:solidFill>
                  <a:srgbClr val="B9C4D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Boxes, labels, confidence, tracking IDs.</a:t>
            </a:r>
            <a:endParaRPr lang="en-US" sz="1350" dirty="0"/>
          </a:p>
        </p:txBody>
      </p:sp>
      <p:sp>
        <p:nvSpPr>
          <p:cNvPr id="22" name="Shape 28"/>
          <p:cNvSpPr/>
          <p:nvPr/>
        </p:nvSpPr>
        <p:spPr>
          <a:xfrm>
            <a:off x="8972326" y="1586951"/>
            <a:ext cx="2609785" cy="1980456"/>
          </a:xfrm>
          <a:prstGeom prst="roundRect">
            <a:avLst>
              <a:gd name="adj" fmla="val 4489"/>
            </a:avLst>
          </a:prstGeom>
          <a:solidFill>
            <a:srgbClr val="12213D"/>
          </a:solidFill>
          <a:ln/>
        </p:spPr>
      </p:sp>
      <p:pic>
        <p:nvPicPr>
          <p:cNvPr id="23" name="Picture 28" descr="__type_imag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72326" y="1586951"/>
            <a:ext cx="2609785" cy="1980456"/>
          </a:xfrm>
          <a:prstGeom prst="rect">
            <a:avLst/>
          </a:prstGeom>
        </p:spPr>
      </p:pic>
      <p:sp>
        <p:nvSpPr>
          <p:cNvPr id="24" name="TextBox 29"/>
          <p:cNvSpPr/>
          <p:nvPr/>
        </p:nvSpPr>
        <p:spPr>
          <a:xfrm>
            <a:off x="9226319" y="1866344"/>
            <a:ext cx="1335947" cy="304792"/>
          </a:xfrm>
          <a:prstGeom prst="roundRect">
            <a:avLst>
              <a:gd name="adj" fmla="val 16667"/>
            </a:avLst>
          </a:prstGeom>
          <a:solidFill>
            <a:srgbClr val="0A1A33"/>
          </a:solidFill>
          <a:ln w="12700">
            <a:solidFill>
              <a:srgbClr val="3D557F"/>
            </a:solidFill>
            <a:prstDash val="solid"/>
          </a:ln>
        </p:spPr>
        <p:txBody>
          <a:bodyPr wrap="square" lIns="88898" tIns="25399" rIns="88898" bIns="25399" rtlCol="0" anchor="t">
            <a:sp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highlight>
                  <a:srgbClr val="0A1A33"/>
                </a:highlight>
                <a:latin typeface="Noto Sans" pitchFamily="34" charset="0"/>
                <a:ea typeface="Noto Sans" pitchFamily="34" charset="-122"/>
                <a:cs typeface="Noto Sans" pitchFamily="34" charset="-120"/>
              </a:rPr>
              <a:t>app.py / cli.py</a:t>
            </a:r>
            <a:endParaRPr lang="en-US" sz="1300" dirty="0"/>
          </a:p>
        </p:txBody>
      </p:sp>
      <p:sp>
        <p:nvSpPr>
          <p:cNvPr id="25" name="TextBox 30"/>
          <p:cNvSpPr/>
          <p:nvPr/>
        </p:nvSpPr>
        <p:spPr>
          <a:xfrm>
            <a:off x="9226319" y="2260034"/>
            <a:ext cx="2101797" cy="2315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24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Interact</a:t>
            </a:r>
            <a:endParaRPr lang="en-US" sz="1600" dirty="0"/>
          </a:p>
        </p:txBody>
      </p:sp>
      <p:sp>
        <p:nvSpPr>
          <p:cNvPr id="26" name="TextBox 31"/>
          <p:cNvSpPr/>
          <p:nvPr/>
        </p:nvSpPr>
        <p:spPr>
          <a:xfrm>
            <a:off x="9226319" y="2580502"/>
            <a:ext cx="2101797" cy="4970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57"/>
              </a:lnSpc>
              <a:buNone/>
            </a:pPr>
            <a:r>
              <a:rPr lang="en-US" sz="1350" dirty="0">
                <a:solidFill>
                  <a:srgbClr val="B9C4D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Web UI or command line; image, video, webcam.</a:t>
            </a:r>
            <a:endParaRPr lang="en-US" sz="1350" dirty="0"/>
          </a:p>
        </p:txBody>
      </p:sp>
      <p:sp>
        <p:nvSpPr>
          <p:cNvPr id="27" name="Shape 34"/>
          <p:cNvSpPr/>
          <p:nvPr/>
        </p:nvSpPr>
        <p:spPr>
          <a:xfrm>
            <a:off x="609585" y="3770602"/>
            <a:ext cx="10972526" cy="587956"/>
          </a:xfrm>
          <a:prstGeom prst="roundRect">
            <a:avLst>
              <a:gd name="adj" fmla="val 12960"/>
            </a:avLst>
          </a:prstGeom>
          <a:solidFill>
            <a:srgbClr val="0A1A33"/>
          </a:solidFill>
          <a:ln w="12700">
            <a:solidFill>
              <a:srgbClr val="3D557F"/>
            </a:solidFill>
            <a:prstDash val="solid"/>
          </a:ln>
        </p:spPr>
      </p:sp>
      <p:sp>
        <p:nvSpPr>
          <p:cNvPr id="28" name="TextBox 36"/>
          <p:cNvSpPr/>
          <p:nvPr/>
        </p:nvSpPr>
        <p:spPr>
          <a:xfrm>
            <a:off x="850879" y="3935697"/>
            <a:ext cx="10489938" cy="2577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python cli.py --source webcam --conf 0.5 --model yolov8n.pt </a:t>
            </a:r>
            <a:r>
              <a:rPr lang="en-US" sz="1400" dirty="0">
                <a:solidFill>
                  <a:srgbClr val="B9C4D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 one command to live detection.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86"/>
            <a:ext cx="12191695" cy="6857829"/>
          </a:xfrm>
          <a:prstGeom prst="rect">
            <a:avLst/>
          </a:prstGeom>
          <a:solidFill>
            <a:srgbClr val="081120"/>
          </a:solidFill>
          <a:ln/>
        </p:spPr>
      </p:sp>
      <p:sp>
        <p:nvSpPr>
          <p:cNvPr id="4" name="Shape 8"/>
          <p:cNvSpPr/>
          <p:nvPr/>
        </p:nvSpPr>
        <p:spPr>
          <a:xfrm>
            <a:off x="609585" y="535953"/>
            <a:ext cx="279393" cy="63498"/>
          </a:xfrm>
          <a:prstGeom prst="rect">
            <a:avLst/>
          </a:prstGeom>
          <a:solidFill>
            <a:srgbClr val="00E5CC"/>
          </a:solidFill>
          <a:ln/>
        </p:spPr>
      </p:sp>
      <p:sp>
        <p:nvSpPr>
          <p:cNvPr id="5" name="TextBox 9"/>
          <p:cNvSpPr/>
          <p:nvPr/>
        </p:nvSpPr>
        <p:spPr>
          <a:xfrm>
            <a:off x="977876" y="457274"/>
            <a:ext cx="3416842" cy="202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b="1" kern="0" spc="168" dirty="0">
                <a:solidFill>
                  <a:srgbClr val="00E5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09 · RESULTS &amp; EVALUATION</a:t>
            </a:r>
            <a:endParaRPr lang="en-US" sz="1200" dirty="0"/>
          </a:p>
        </p:txBody>
      </p:sp>
      <p:sp>
        <p:nvSpPr>
          <p:cNvPr id="6" name="TextBox 11"/>
          <p:cNvSpPr/>
          <p:nvPr/>
        </p:nvSpPr>
        <p:spPr>
          <a:xfrm>
            <a:off x="609585" y="843325"/>
            <a:ext cx="5308467" cy="438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456"/>
              </a:lnSpc>
              <a:buNone/>
            </a:pPr>
            <a:r>
              <a:rPr lang="en-US" sz="3200" b="1" kern="0" spc="-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Measured, not claimed</a:t>
            </a:r>
            <a:endParaRPr lang="en-US" sz="3200" dirty="0"/>
          </a:p>
        </p:txBody>
      </p:sp>
      <p:sp>
        <p:nvSpPr>
          <p:cNvPr id="7" name="Shape 15"/>
          <p:cNvSpPr/>
          <p:nvPr/>
        </p:nvSpPr>
        <p:spPr>
          <a:xfrm>
            <a:off x="609585" y="1536152"/>
            <a:ext cx="2539936" cy="1501241"/>
          </a:xfrm>
          <a:prstGeom prst="roundRect">
            <a:avLst>
              <a:gd name="adj" fmla="val 5922"/>
            </a:avLst>
          </a:prstGeom>
          <a:solidFill>
            <a:srgbClr val="12213D"/>
          </a:solidFill>
          <a:ln/>
        </p:spPr>
      </p:sp>
      <p:pic>
        <p:nvPicPr>
          <p:cNvPr id="8" name="Picture 15" descr="__type_imag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585" y="1536152"/>
            <a:ext cx="2539936" cy="1501241"/>
          </a:xfrm>
          <a:prstGeom prst="rect">
            <a:avLst/>
          </a:prstGeom>
        </p:spPr>
      </p:pic>
      <p:sp>
        <p:nvSpPr>
          <p:cNvPr id="9" name="TextBox 16"/>
          <p:cNvSpPr/>
          <p:nvPr/>
        </p:nvSpPr>
        <p:spPr>
          <a:xfrm>
            <a:off x="863578" y="1815545"/>
            <a:ext cx="2031949" cy="248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57"/>
              </a:lnSpc>
              <a:buNone/>
            </a:pPr>
            <a:r>
              <a:rPr lang="en-US" sz="1350" b="1" kern="0" spc="162" dirty="0">
                <a:solidFill>
                  <a:srgbClr val="B9C4D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MAP</a:t>
            </a:r>
            <a:endParaRPr lang="en-US" sz="1350" dirty="0"/>
          </a:p>
        </p:txBody>
      </p:sp>
      <p:sp>
        <p:nvSpPr>
          <p:cNvPr id="10" name="TextBox 17"/>
          <p:cNvSpPr/>
          <p:nvPr/>
        </p:nvSpPr>
        <p:spPr>
          <a:xfrm>
            <a:off x="863578" y="2064082"/>
            <a:ext cx="2031949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350" b="1" kern="0" spc="-40" dirty="0">
                <a:solidFill>
                  <a:srgbClr val="00E5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[Insert %]</a:t>
            </a:r>
            <a:endParaRPr lang="en-US" sz="1350" dirty="0"/>
          </a:p>
        </p:txBody>
      </p:sp>
      <p:sp>
        <p:nvSpPr>
          <p:cNvPr id="11" name="TextBox 18"/>
          <p:cNvSpPr/>
          <p:nvPr/>
        </p:nvSpPr>
        <p:spPr>
          <a:xfrm>
            <a:off x="863578" y="2299026"/>
            <a:ext cx="2031949" cy="4970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57"/>
              </a:lnSpc>
              <a:buNone/>
            </a:pPr>
            <a:r>
              <a:rPr lang="en-US" sz="1350" dirty="0">
                <a:solidFill>
                  <a:srgbClr val="B9C4D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Target threshold reached on test split.</a:t>
            </a:r>
            <a:endParaRPr lang="en-US" sz="1350" dirty="0"/>
          </a:p>
        </p:txBody>
      </p:sp>
      <p:sp>
        <p:nvSpPr>
          <p:cNvPr id="12" name="Shape 20"/>
          <p:cNvSpPr/>
          <p:nvPr/>
        </p:nvSpPr>
        <p:spPr>
          <a:xfrm>
            <a:off x="3378116" y="1536152"/>
            <a:ext cx="2539936" cy="1501241"/>
          </a:xfrm>
          <a:prstGeom prst="roundRect">
            <a:avLst>
              <a:gd name="adj" fmla="val 5922"/>
            </a:avLst>
          </a:prstGeom>
          <a:solidFill>
            <a:srgbClr val="12213D"/>
          </a:solidFill>
          <a:ln/>
        </p:spPr>
      </p:sp>
      <p:pic>
        <p:nvPicPr>
          <p:cNvPr id="13" name="Picture 20" descr="__type_imag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78116" y="1536152"/>
            <a:ext cx="2539936" cy="1501241"/>
          </a:xfrm>
          <a:prstGeom prst="rect">
            <a:avLst/>
          </a:prstGeom>
        </p:spPr>
      </p:pic>
      <p:sp>
        <p:nvSpPr>
          <p:cNvPr id="14" name="TextBox 21"/>
          <p:cNvSpPr/>
          <p:nvPr/>
        </p:nvSpPr>
        <p:spPr>
          <a:xfrm>
            <a:off x="3632109" y="1815545"/>
            <a:ext cx="2031949" cy="248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57"/>
              </a:lnSpc>
              <a:buNone/>
            </a:pPr>
            <a:r>
              <a:rPr lang="en-US" sz="1350" b="1" kern="0" spc="162" dirty="0">
                <a:solidFill>
                  <a:srgbClr val="B9C4D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SPEED</a:t>
            </a:r>
            <a:endParaRPr lang="en-US" sz="1350" dirty="0"/>
          </a:p>
        </p:txBody>
      </p:sp>
      <p:sp>
        <p:nvSpPr>
          <p:cNvPr id="15" name="TextBox 22"/>
          <p:cNvSpPr/>
          <p:nvPr/>
        </p:nvSpPr>
        <p:spPr>
          <a:xfrm>
            <a:off x="3632109" y="2064082"/>
            <a:ext cx="2031949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350" b="1" kern="0" spc="-40" dirty="0">
                <a:solidFill>
                  <a:srgbClr val="FFB22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[Insert FPS]</a:t>
            </a:r>
            <a:endParaRPr lang="en-US" sz="1350" dirty="0"/>
          </a:p>
        </p:txBody>
      </p:sp>
      <p:sp>
        <p:nvSpPr>
          <p:cNvPr id="16" name="TextBox 23"/>
          <p:cNvSpPr/>
          <p:nvPr/>
        </p:nvSpPr>
        <p:spPr>
          <a:xfrm>
            <a:off x="3632109" y="2299026"/>
            <a:ext cx="2031949" cy="4970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57"/>
              </a:lnSpc>
              <a:buNone/>
            </a:pPr>
            <a:r>
              <a:rPr lang="en-US" sz="1350" dirty="0">
                <a:solidFill>
                  <a:srgbClr val="B9C4D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Average frame rate, deployment GPU.</a:t>
            </a:r>
            <a:endParaRPr lang="en-US" sz="1350" dirty="0"/>
          </a:p>
        </p:txBody>
      </p:sp>
      <p:sp>
        <p:nvSpPr>
          <p:cNvPr id="17" name="Shape 27"/>
          <p:cNvSpPr/>
          <p:nvPr/>
        </p:nvSpPr>
        <p:spPr>
          <a:xfrm>
            <a:off x="6273643" y="2061304"/>
            <a:ext cx="5308467" cy="2735393"/>
          </a:xfrm>
          <a:prstGeom prst="roundRect">
            <a:avLst>
              <a:gd name="adj" fmla="val 3250"/>
            </a:avLst>
          </a:prstGeom>
          <a:solidFill>
            <a:srgbClr val="12213D"/>
          </a:solidFill>
          <a:ln w="12700">
            <a:solidFill>
              <a:srgbClr val="2A3D63"/>
            </a:solidFill>
            <a:prstDash val="solid"/>
          </a:ln>
        </p:spPr>
      </p:sp>
      <p:sp>
        <p:nvSpPr>
          <p:cNvPr id="18" name="TextBox 29"/>
          <p:cNvSpPr/>
          <p:nvPr/>
        </p:nvSpPr>
        <p:spPr>
          <a:xfrm>
            <a:off x="6591135" y="2378796"/>
            <a:ext cx="4673483" cy="220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b="1" kern="0" spc="144" dirty="0">
                <a:solidFill>
                  <a:srgbClr val="B9C4D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QUALITATIVE WINS</a:t>
            </a:r>
            <a:endParaRPr lang="en-US" sz="1200" dirty="0"/>
          </a:p>
        </p:txBody>
      </p:sp>
      <p:sp>
        <p:nvSpPr>
          <p:cNvPr id="19" name="TextBox 34"/>
          <p:cNvSpPr/>
          <p:nvPr/>
        </p:nvSpPr>
        <p:spPr>
          <a:xfrm>
            <a:off x="6591135" y="2752147"/>
            <a:ext cx="123524" cy="292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34D39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+</a:t>
            </a:r>
            <a:endParaRPr lang="en-US" sz="1700" dirty="0"/>
          </a:p>
        </p:txBody>
      </p:sp>
      <p:sp>
        <p:nvSpPr>
          <p:cNvPr id="20" name="TextBox 35"/>
          <p:cNvSpPr/>
          <p:nvPr/>
        </p:nvSpPr>
        <p:spPr>
          <a:xfrm>
            <a:off x="6816257" y="2752147"/>
            <a:ext cx="3386251" cy="2577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Detects targets under </a:t>
            </a:r>
            <a:r>
              <a:rPr lang="en-US" sz="14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partial occlusion</a:t>
            </a:r>
            <a:r>
              <a:rPr lang="en-US" sz="14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</a:t>
            </a:r>
            <a:endParaRPr lang="en-US" sz="1400" dirty="0"/>
          </a:p>
        </p:txBody>
      </p:sp>
      <p:sp>
        <p:nvSpPr>
          <p:cNvPr id="21" name="TextBox 38"/>
          <p:cNvSpPr/>
          <p:nvPr/>
        </p:nvSpPr>
        <p:spPr>
          <a:xfrm>
            <a:off x="6591135" y="3171236"/>
            <a:ext cx="123524" cy="292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34D39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+</a:t>
            </a:r>
            <a:endParaRPr lang="en-US" sz="1700" dirty="0"/>
          </a:p>
        </p:txBody>
      </p:sp>
      <p:sp>
        <p:nvSpPr>
          <p:cNvPr id="22" name="TextBox 39"/>
          <p:cNvSpPr/>
          <p:nvPr/>
        </p:nvSpPr>
        <p:spPr>
          <a:xfrm>
            <a:off x="6816257" y="3171236"/>
            <a:ext cx="4448361" cy="51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Minimized false positives</a:t>
            </a:r>
            <a:r>
              <a:rPr lang="en-US" sz="14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via tuned confidence thresholds.</a:t>
            </a:r>
            <a:endParaRPr lang="en-US" sz="1400" dirty="0"/>
          </a:p>
        </p:txBody>
      </p:sp>
      <p:sp>
        <p:nvSpPr>
          <p:cNvPr id="23" name="TextBox 42"/>
          <p:cNvSpPr/>
          <p:nvPr/>
        </p:nvSpPr>
        <p:spPr>
          <a:xfrm>
            <a:off x="6591135" y="3813761"/>
            <a:ext cx="123524" cy="292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34D39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+</a:t>
            </a:r>
            <a:endParaRPr lang="en-US" sz="1700" dirty="0"/>
          </a:p>
        </p:txBody>
      </p:sp>
      <p:sp>
        <p:nvSpPr>
          <p:cNvPr id="24" name="TextBox 43"/>
          <p:cNvSpPr/>
          <p:nvPr/>
        </p:nvSpPr>
        <p:spPr>
          <a:xfrm>
            <a:off x="6816257" y="3813761"/>
            <a:ext cx="3721999" cy="2577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Stable IDs across frames with tracker + NMS.</a:t>
            </a:r>
            <a:endParaRPr lang="en-US" sz="1400" dirty="0"/>
          </a:p>
        </p:txBody>
      </p:sp>
      <p:sp>
        <p:nvSpPr>
          <p:cNvPr id="25" name="TextBox 46"/>
          <p:cNvSpPr/>
          <p:nvPr/>
        </p:nvSpPr>
        <p:spPr>
          <a:xfrm>
            <a:off x="6591135" y="4258250"/>
            <a:ext cx="4673483" cy="220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B9C4D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Replace brackets with final test numbers before presenting.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86"/>
            <a:ext cx="12191695" cy="6857829"/>
          </a:xfrm>
          <a:prstGeom prst="rect">
            <a:avLst/>
          </a:prstGeom>
          <a:solidFill>
            <a:srgbClr val="081120"/>
          </a:solidFill>
          <a:ln/>
        </p:spPr>
      </p:sp>
      <p:sp>
        <p:nvSpPr>
          <p:cNvPr id="4" name="Shape 8"/>
          <p:cNvSpPr/>
          <p:nvPr/>
        </p:nvSpPr>
        <p:spPr>
          <a:xfrm>
            <a:off x="609585" y="1202984"/>
            <a:ext cx="279393" cy="63498"/>
          </a:xfrm>
          <a:prstGeom prst="rect">
            <a:avLst/>
          </a:prstGeom>
          <a:solidFill>
            <a:srgbClr val="00E5CC"/>
          </a:solidFill>
          <a:ln/>
        </p:spPr>
      </p:sp>
      <p:sp>
        <p:nvSpPr>
          <p:cNvPr id="5" name="TextBox 9"/>
          <p:cNvSpPr/>
          <p:nvPr/>
        </p:nvSpPr>
        <p:spPr>
          <a:xfrm>
            <a:off x="977875" y="1124305"/>
            <a:ext cx="3937795" cy="202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b="1" kern="0" spc="168" dirty="0">
                <a:solidFill>
                  <a:srgbClr val="00E5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 · LIVE DEMONSTRATION / OUTPUT</a:t>
            </a:r>
            <a:endParaRPr lang="en-US" sz="1200" dirty="0"/>
          </a:p>
        </p:txBody>
      </p:sp>
      <p:sp>
        <p:nvSpPr>
          <p:cNvPr id="6" name="TextBox 11"/>
          <p:cNvSpPr/>
          <p:nvPr/>
        </p:nvSpPr>
        <p:spPr>
          <a:xfrm>
            <a:off x="609585" y="1510356"/>
            <a:ext cx="6104678" cy="438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456"/>
              </a:lnSpc>
              <a:buNone/>
            </a:pPr>
            <a:r>
              <a:rPr lang="en-US" sz="3200" b="1" kern="0" spc="-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See it working</a:t>
            </a:r>
            <a:endParaRPr lang="en-US" sz="3200" dirty="0"/>
          </a:p>
        </p:txBody>
      </p:sp>
      <p:sp>
        <p:nvSpPr>
          <p:cNvPr id="7" name="Shape 13"/>
          <p:cNvSpPr/>
          <p:nvPr/>
        </p:nvSpPr>
        <p:spPr>
          <a:xfrm>
            <a:off x="609585" y="2177784"/>
            <a:ext cx="6104678" cy="3555911"/>
          </a:xfrm>
          <a:prstGeom prst="rect">
            <a:avLst/>
          </a:prstGeom>
          <a:solidFill>
            <a:srgbClr val="0D1C38"/>
          </a:solidFill>
          <a:ln w="19050">
            <a:solidFill>
              <a:srgbClr val="3D557F"/>
            </a:solidFill>
            <a:prstDash val="solid"/>
          </a:ln>
        </p:spPr>
      </p:sp>
      <p:sp>
        <p:nvSpPr>
          <p:cNvPr id="8" name="Shape 15"/>
          <p:cNvSpPr/>
          <p:nvPr/>
        </p:nvSpPr>
        <p:spPr>
          <a:xfrm>
            <a:off x="1327117" y="2895316"/>
            <a:ext cx="2158946" cy="2095448"/>
          </a:xfrm>
          <a:prstGeom prst="roundRect">
            <a:avLst>
              <a:gd name="adj" fmla="val 1818"/>
            </a:avLst>
          </a:prstGeom>
          <a:noFill/>
          <a:ln w="31749">
            <a:solidFill>
              <a:srgbClr val="00E5CC"/>
            </a:solidFill>
            <a:prstDash val="solid"/>
          </a:ln>
        </p:spPr>
      </p:sp>
      <p:sp>
        <p:nvSpPr>
          <p:cNvPr id="9" name="TextBox 16"/>
          <p:cNvSpPr/>
          <p:nvPr/>
        </p:nvSpPr>
        <p:spPr>
          <a:xfrm>
            <a:off x="1327117" y="2596873"/>
            <a:ext cx="1136026" cy="292093"/>
          </a:xfrm>
          <a:prstGeom prst="roundRect">
            <a:avLst>
              <a:gd name="adj" fmla="val 13043"/>
            </a:avLst>
          </a:prstGeom>
          <a:solidFill>
            <a:srgbClr val="00E5CC"/>
          </a:solidFill>
          <a:ln/>
        </p:spPr>
        <p:txBody>
          <a:bodyPr wrap="none" lIns="88898" tIns="38099" rIns="88898" bIns="38099" rtlCol="0" anchor="t">
            <a:sp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6281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Person: 94%</a:t>
            </a:r>
            <a:endParaRPr lang="en-US" sz="1250" dirty="0"/>
          </a:p>
        </p:txBody>
      </p:sp>
      <p:sp>
        <p:nvSpPr>
          <p:cNvPr id="10" name="Shape 18"/>
          <p:cNvSpPr/>
          <p:nvPr/>
        </p:nvSpPr>
        <p:spPr>
          <a:xfrm>
            <a:off x="3676558" y="3657297"/>
            <a:ext cx="1523962" cy="1269968"/>
          </a:xfrm>
          <a:prstGeom prst="roundRect">
            <a:avLst>
              <a:gd name="adj" fmla="val 3000"/>
            </a:avLst>
          </a:prstGeom>
          <a:noFill/>
          <a:ln w="31749">
            <a:solidFill>
              <a:srgbClr val="FFB224"/>
            </a:solidFill>
            <a:prstDash val="solid"/>
          </a:ln>
        </p:spPr>
      </p:sp>
      <p:sp>
        <p:nvSpPr>
          <p:cNvPr id="11" name="TextBox 19"/>
          <p:cNvSpPr/>
          <p:nvPr/>
        </p:nvSpPr>
        <p:spPr>
          <a:xfrm>
            <a:off x="3676558" y="3358854"/>
            <a:ext cx="858122" cy="292093"/>
          </a:xfrm>
          <a:prstGeom prst="roundRect">
            <a:avLst>
              <a:gd name="adj" fmla="val 13043"/>
            </a:avLst>
          </a:prstGeom>
          <a:solidFill>
            <a:srgbClr val="FFB224"/>
          </a:solidFill>
          <a:ln/>
        </p:spPr>
        <p:txBody>
          <a:bodyPr wrap="none" lIns="88898" tIns="38099" rIns="88898" bIns="38099" rtlCol="0" anchor="t">
            <a:sp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3A24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Car: 89%</a:t>
            </a:r>
            <a:endParaRPr lang="en-US" sz="1250" dirty="0"/>
          </a:p>
        </p:txBody>
      </p:sp>
      <p:sp>
        <p:nvSpPr>
          <p:cNvPr id="12" name="Shape 21"/>
          <p:cNvSpPr/>
          <p:nvPr/>
        </p:nvSpPr>
        <p:spPr>
          <a:xfrm>
            <a:off x="4692533" y="2958814"/>
            <a:ext cx="1142971" cy="1968451"/>
          </a:xfrm>
          <a:prstGeom prst="roundRect">
            <a:avLst>
              <a:gd name="adj" fmla="val 3333"/>
            </a:avLst>
          </a:prstGeom>
          <a:noFill/>
          <a:ln w="31749">
            <a:solidFill>
              <a:srgbClr val="7C8CFF"/>
            </a:solidFill>
            <a:prstDash val="solid"/>
          </a:ln>
        </p:spPr>
      </p:sp>
      <p:sp>
        <p:nvSpPr>
          <p:cNvPr id="13" name="TextBox 22"/>
          <p:cNvSpPr/>
          <p:nvPr/>
        </p:nvSpPr>
        <p:spPr>
          <a:xfrm>
            <a:off x="4692533" y="2660372"/>
            <a:ext cx="1136026" cy="292093"/>
          </a:xfrm>
          <a:prstGeom prst="roundRect">
            <a:avLst>
              <a:gd name="adj" fmla="val 13043"/>
            </a:avLst>
          </a:prstGeom>
          <a:solidFill>
            <a:srgbClr val="7C8CFF"/>
          </a:solidFill>
          <a:ln/>
        </p:spPr>
        <p:txBody>
          <a:bodyPr wrap="none" lIns="88898" tIns="38099" rIns="88898" bIns="38099" rtlCol="0" anchor="t">
            <a:sp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0173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Person: 87%</a:t>
            </a:r>
            <a:endParaRPr lang="en-US" sz="1250" dirty="0"/>
          </a:p>
        </p:txBody>
      </p:sp>
      <p:sp>
        <p:nvSpPr>
          <p:cNvPr id="14" name="Shape 24"/>
          <p:cNvSpPr/>
          <p:nvPr/>
        </p:nvSpPr>
        <p:spPr>
          <a:xfrm>
            <a:off x="4057549" y="2641322"/>
            <a:ext cx="825479" cy="698483"/>
          </a:xfrm>
          <a:prstGeom prst="roundRect">
            <a:avLst>
              <a:gd name="adj" fmla="val 5455"/>
            </a:avLst>
          </a:prstGeom>
          <a:noFill/>
          <a:ln w="31749">
            <a:solidFill>
              <a:srgbClr val="00E5CC"/>
            </a:solidFill>
            <a:prstDash val="solid"/>
          </a:ln>
        </p:spPr>
      </p:sp>
      <p:sp>
        <p:nvSpPr>
          <p:cNvPr id="15" name="TextBox 25"/>
          <p:cNvSpPr/>
          <p:nvPr/>
        </p:nvSpPr>
        <p:spPr>
          <a:xfrm>
            <a:off x="4057549" y="2342879"/>
            <a:ext cx="858122" cy="292093"/>
          </a:xfrm>
          <a:prstGeom prst="roundRect">
            <a:avLst>
              <a:gd name="adj" fmla="val 13043"/>
            </a:avLst>
          </a:prstGeom>
          <a:solidFill>
            <a:srgbClr val="00E5CC"/>
          </a:solidFill>
          <a:ln/>
        </p:spPr>
        <p:txBody>
          <a:bodyPr wrap="none" lIns="88898" tIns="38099" rIns="88898" bIns="38099" rtlCol="0" anchor="t">
            <a:sp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6281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Car: 81%</a:t>
            </a:r>
            <a:endParaRPr lang="en-US" sz="1250" dirty="0"/>
          </a:p>
        </p:txBody>
      </p:sp>
      <p:sp>
        <p:nvSpPr>
          <p:cNvPr id="16" name="TextBox 28"/>
          <p:cNvSpPr/>
          <p:nvPr/>
        </p:nvSpPr>
        <p:spPr>
          <a:xfrm>
            <a:off x="831828" y="5255787"/>
            <a:ext cx="1352747" cy="346231"/>
          </a:xfrm>
          <a:prstGeom prst="roundRect">
            <a:avLst>
              <a:gd name="adj" fmla="val 50000"/>
            </a:avLst>
          </a:prstGeom>
          <a:solidFill>
            <a:srgbClr val="00E5CC"/>
          </a:solidFill>
          <a:ln/>
        </p:spPr>
        <p:txBody>
          <a:bodyPr wrap="square" lIns="139697" tIns="38099" rIns="139697" bIns="38099" rtlCol="0" anchor="ctr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6281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LIVE · 34 FPS</a:t>
            </a:r>
            <a:endParaRPr lang="en-US" sz="1100" dirty="0"/>
          </a:p>
        </p:txBody>
      </p:sp>
      <p:sp>
        <p:nvSpPr>
          <p:cNvPr id="17" name="TextBox 29"/>
          <p:cNvSpPr/>
          <p:nvPr/>
        </p:nvSpPr>
        <p:spPr>
          <a:xfrm>
            <a:off x="2540167" y="5282856"/>
            <a:ext cx="2195656" cy="292093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D557F"/>
            </a:solidFill>
            <a:prstDash val="solid"/>
          </a:ln>
        </p:spPr>
        <p:txBody>
          <a:bodyPr wrap="square" lIns="139697" tIns="38099" rIns="139697" bIns="38099" rtlCol="0" anchor="ctr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9C4D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crowd + fast motion: stable</a:t>
            </a:r>
            <a:endParaRPr lang="en-US" sz="1100" dirty="0"/>
          </a:p>
        </p:txBody>
      </p:sp>
      <p:sp>
        <p:nvSpPr>
          <p:cNvPr id="18" name="Shape 35"/>
          <p:cNvSpPr/>
          <p:nvPr/>
        </p:nvSpPr>
        <p:spPr>
          <a:xfrm>
            <a:off x="7069854" y="1531092"/>
            <a:ext cx="4512257" cy="1612165"/>
          </a:xfrm>
          <a:prstGeom prst="roundRect">
            <a:avLst>
              <a:gd name="adj" fmla="val 5514"/>
            </a:avLst>
          </a:prstGeom>
          <a:solidFill>
            <a:srgbClr val="12213D"/>
          </a:solidFill>
          <a:ln w="12700">
            <a:solidFill>
              <a:srgbClr val="2A3D63"/>
            </a:solidFill>
            <a:prstDash val="solid"/>
          </a:ln>
        </p:spPr>
      </p:sp>
      <p:sp>
        <p:nvSpPr>
          <p:cNvPr id="19" name="TextBox 36"/>
          <p:cNvSpPr/>
          <p:nvPr/>
        </p:nvSpPr>
        <p:spPr>
          <a:xfrm>
            <a:off x="7323847" y="1772386"/>
            <a:ext cx="4004269" cy="248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57"/>
              </a:lnSpc>
              <a:buNone/>
            </a:pPr>
            <a:r>
              <a:rPr lang="en-US" sz="1350" b="1" kern="0" spc="162" dirty="0">
                <a:solidFill>
                  <a:srgbClr val="B9C4D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VISUAL EVIDENCE</a:t>
            </a:r>
            <a:endParaRPr lang="en-US" sz="1350" dirty="0"/>
          </a:p>
        </p:txBody>
      </p:sp>
      <p:sp>
        <p:nvSpPr>
          <p:cNvPr id="20" name="TextBox 37"/>
          <p:cNvSpPr/>
          <p:nvPr/>
        </p:nvSpPr>
        <p:spPr>
          <a:xfrm>
            <a:off x="7323847" y="2084421"/>
            <a:ext cx="4004269" cy="2315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24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Boxes + labels + confidence</a:t>
            </a:r>
            <a:endParaRPr lang="en-US" sz="1600" dirty="0"/>
          </a:p>
        </p:txBody>
      </p:sp>
      <p:sp>
        <p:nvSpPr>
          <p:cNvPr id="21" name="TextBox 38"/>
          <p:cNvSpPr/>
          <p:nvPr/>
        </p:nvSpPr>
        <p:spPr>
          <a:xfrm>
            <a:off x="7323847" y="2404890"/>
            <a:ext cx="4004269" cy="4970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57"/>
              </a:lnSpc>
              <a:buNone/>
            </a:pPr>
            <a:r>
              <a:rPr lang="en-US" sz="1350" dirty="0">
                <a:solidFill>
                  <a:srgbClr val="B9C4D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Screenshots / clips with class and % — e.g. Person 94%, Car 89%.</a:t>
            </a:r>
            <a:endParaRPr lang="en-US" sz="1350" dirty="0"/>
          </a:p>
        </p:txBody>
      </p:sp>
      <p:sp>
        <p:nvSpPr>
          <p:cNvPr id="22" name="Shape 40"/>
          <p:cNvSpPr/>
          <p:nvPr/>
        </p:nvSpPr>
        <p:spPr>
          <a:xfrm>
            <a:off x="7069854" y="3295653"/>
            <a:ext cx="4512257" cy="1650264"/>
          </a:xfrm>
          <a:prstGeom prst="roundRect">
            <a:avLst>
              <a:gd name="adj" fmla="val 5387"/>
            </a:avLst>
          </a:prstGeom>
          <a:solidFill>
            <a:srgbClr val="12213D"/>
          </a:solidFill>
          <a:ln/>
        </p:spPr>
      </p:sp>
      <p:pic>
        <p:nvPicPr>
          <p:cNvPr id="23" name="Picture 40" descr="__type_imag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69854" y="3295653"/>
            <a:ext cx="4512257" cy="1650264"/>
          </a:xfrm>
          <a:prstGeom prst="rect">
            <a:avLst/>
          </a:prstGeom>
        </p:spPr>
      </p:pic>
      <p:sp>
        <p:nvSpPr>
          <p:cNvPr id="24" name="TextBox 41"/>
          <p:cNvSpPr/>
          <p:nvPr/>
        </p:nvSpPr>
        <p:spPr>
          <a:xfrm>
            <a:off x="7323847" y="3575046"/>
            <a:ext cx="4004269" cy="248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57"/>
              </a:lnSpc>
              <a:buNone/>
            </a:pPr>
            <a:r>
              <a:rPr lang="en-US" sz="1350" b="1" kern="0" spc="162" dirty="0">
                <a:solidFill>
                  <a:srgbClr val="B9C4D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EDGE CASES</a:t>
            </a:r>
            <a:endParaRPr lang="en-US" sz="1350" dirty="0"/>
          </a:p>
        </p:txBody>
      </p:sp>
      <p:sp>
        <p:nvSpPr>
          <p:cNvPr id="25" name="TextBox 42"/>
          <p:cNvSpPr/>
          <p:nvPr/>
        </p:nvSpPr>
        <p:spPr>
          <a:xfrm>
            <a:off x="7323847" y="3887082"/>
            <a:ext cx="4004269" cy="2315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24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Fast movement, crowding</a:t>
            </a:r>
            <a:endParaRPr lang="en-US" sz="1600" dirty="0"/>
          </a:p>
        </p:txBody>
      </p:sp>
      <p:sp>
        <p:nvSpPr>
          <p:cNvPr id="26" name="TextBox 43"/>
          <p:cNvSpPr/>
          <p:nvPr/>
        </p:nvSpPr>
        <p:spPr>
          <a:xfrm>
            <a:off x="7323847" y="4207550"/>
            <a:ext cx="4004269" cy="4970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57"/>
              </a:lnSpc>
              <a:buNone/>
            </a:pPr>
            <a:r>
              <a:rPr lang="en-US" sz="1350" dirty="0">
                <a:solidFill>
                  <a:srgbClr val="B9C4D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Tracker holds IDs; NMS suppresses duplicates in dense scenes.</a:t>
            </a:r>
            <a:endParaRPr lang="en-US" sz="1350" dirty="0"/>
          </a:p>
        </p:txBody>
      </p:sp>
      <p:sp>
        <p:nvSpPr>
          <p:cNvPr id="27" name="Shape 46"/>
          <p:cNvSpPr/>
          <p:nvPr/>
        </p:nvSpPr>
        <p:spPr>
          <a:xfrm>
            <a:off x="7069854" y="5142763"/>
            <a:ext cx="139697" cy="139697"/>
          </a:xfrm>
          <a:prstGeom prst="ellipse">
            <a:avLst/>
          </a:prstGeom>
          <a:solidFill>
            <a:srgbClr val="00E5CC"/>
          </a:solidFill>
          <a:ln/>
        </p:spPr>
      </p:sp>
      <p:sp>
        <p:nvSpPr>
          <p:cNvPr id="28" name="TextBox 47"/>
          <p:cNvSpPr/>
          <p:nvPr/>
        </p:nvSpPr>
        <p:spPr>
          <a:xfrm>
            <a:off x="7374646" y="5098314"/>
            <a:ext cx="542217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Person</a:t>
            </a:r>
            <a:endParaRPr lang="en-US" sz="1300" dirty="0"/>
          </a:p>
        </p:txBody>
      </p:sp>
      <p:sp>
        <p:nvSpPr>
          <p:cNvPr id="29" name="Shape 48"/>
          <p:cNvSpPr/>
          <p:nvPr/>
        </p:nvSpPr>
        <p:spPr>
          <a:xfrm>
            <a:off x="8158157" y="5142763"/>
            <a:ext cx="139697" cy="139697"/>
          </a:xfrm>
          <a:prstGeom prst="ellipse">
            <a:avLst/>
          </a:prstGeom>
          <a:solidFill>
            <a:srgbClr val="FFB224"/>
          </a:solidFill>
          <a:ln/>
        </p:spPr>
      </p:sp>
      <p:sp>
        <p:nvSpPr>
          <p:cNvPr id="30" name="TextBox 49"/>
          <p:cNvSpPr/>
          <p:nvPr/>
        </p:nvSpPr>
        <p:spPr>
          <a:xfrm>
            <a:off x="8462949" y="5098314"/>
            <a:ext cx="265205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Car</a:t>
            </a:r>
            <a:endParaRPr lang="en-US" sz="1300" dirty="0"/>
          </a:p>
        </p:txBody>
      </p:sp>
      <p:sp>
        <p:nvSpPr>
          <p:cNvPr id="31" name="Shape 50"/>
          <p:cNvSpPr/>
          <p:nvPr/>
        </p:nvSpPr>
        <p:spPr>
          <a:xfrm>
            <a:off x="8969448" y="5142763"/>
            <a:ext cx="139697" cy="139697"/>
          </a:xfrm>
          <a:prstGeom prst="ellipse">
            <a:avLst/>
          </a:prstGeom>
          <a:solidFill>
            <a:srgbClr val="7C8CFF"/>
          </a:solidFill>
          <a:ln/>
        </p:spPr>
      </p:sp>
      <p:sp>
        <p:nvSpPr>
          <p:cNvPr id="32" name="TextBox 51"/>
          <p:cNvSpPr/>
          <p:nvPr/>
        </p:nvSpPr>
        <p:spPr>
          <a:xfrm>
            <a:off x="9274241" y="5098314"/>
            <a:ext cx="603136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Tracked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-22860" y="86"/>
            <a:ext cx="12191695" cy="6857829"/>
          </a:xfrm>
          <a:prstGeom prst="rect">
            <a:avLst/>
          </a:prstGeom>
          <a:solidFill>
            <a:srgbClr val="081120"/>
          </a:solidFill>
          <a:ln/>
        </p:spPr>
      </p:sp>
      <p:sp>
        <p:nvSpPr>
          <p:cNvPr id="4" name="Shape 6"/>
          <p:cNvSpPr/>
          <p:nvPr/>
        </p:nvSpPr>
        <p:spPr>
          <a:xfrm>
            <a:off x="609585" y="535953"/>
            <a:ext cx="279393" cy="63498"/>
          </a:xfrm>
          <a:prstGeom prst="rect">
            <a:avLst/>
          </a:prstGeom>
          <a:solidFill>
            <a:srgbClr val="00E5CC"/>
          </a:solidFill>
          <a:ln/>
        </p:spPr>
      </p:sp>
      <p:sp>
        <p:nvSpPr>
          <p:cNvPr id="5" name="TextBox 7"/>
          <p:cNvSpPr/>
          <p:nvPr/>
        </p:nvSpPr>
        <p:spPr>
          <a:xfrm>
            <a:off x="977876" y="457274"/>
            <a:ext cx="5208320" cy="202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b="1" kern="0" spc="168" dirty="0">
                <a:solidFill>
                  <a:srgbClr val="00E5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11 · FUTURE ENHANCEMENTS &amp; SCALABILITY</a:t>
            </a:r>
            <a:endParaRPr lang="en-US" sz="1200" dirty="0"/>
          </a:p>
        </p:txBody>
      </p:sp>
      <p:sp>
        <p:nvSpPr>
          <p:cNvPr id="6" name="TextBox 9"/>
          <p:cNvSpPr/>
          <p:nvPr/>
        </p:nvSpPr>
        <p:spPr>
          <a:xfrm>
            <a:off x="609585" y="843325"/>
            <a:ext cx="9397765" cy="438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456"/>
              </a:lnSpc>
              <a:buNone/>
            </a:pPr>
            <a:r>
              <a:rPr lang="en-US" sz="3200" b="1" kern="0" spc="-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Faster on the edge, bigger in the cloud</a:t>
            </a:r>
            <a:endParaRPr lang="en-US" sz="3200" dirty="0"/>
          </a:p>
        </p:txBody>
      </p:sp>
      <p:sp>
        <p:nvSpPr>
          <p:cNvPr id="7" name="Shape 13"/>
          <p:cNvSpPr/>
          <p:nvPr/>
        </p:nvSpPr>
        <p:spPr>
          <a:xfrm>
            <a:off x="609585" y="1586951"/>
            <a:ext cx="3505112" cy="1650264"/>
          </a:xfrm>
          <a:prstGeom prst="roundRect">
            <a:avLst>
              <a:gd name="adj" fmla="val 5387"/>
            </a:avLst>
          </a:prstGeom>
          <a:solidFill>
            <a:srgbClr val="12213D"/>
          </a:solidFill>
          <a:ln/>
        </p:spPr>
      </p:sp>
      <p:pic>
        <p:nvPicPr>
          <p:cNvPr id="8" name="Picture 13" descr="__type_imag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585" y="1586951"/>
            <a:ext cx="3505112" cy="1650264"/>
          </a:xfrm>
          <a:prstGeom prst="rect">
            <a:avLst/>
          </a:prstGeom>
        </p:spPr>
      </p:pic>
      <p:sp>
        <p:nvSpPr>
          <p:cNvPr id="9" name="TextBox 14"/>
          <p:cNvSpPr/>
          <p:nvPr/>
        </p:nvSpPr>
        <p:spPr>
          <a:xfrm>
            <a:off x="863578" y="1866344"/>
            <a:ext cx="2997125" cy="248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57"/>
              </a:lnSpc>
              <a:buNone/>
            </a:pPr>
            <a:r>
              <a:rPr lang="en-US" sz="1350" b="1" kern="0" spc="162" dirty="0">
                <a:solidFill>
                  <a:srgbClr val="B9C4D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OPTIMIZE</a:t>
            </a:r>
            <a:endParaRPr lang="en-US" sz="1350" dirty="0"/>
          </a:p>
        </p:txBody>
      </p:sp>
      <p:sp>
        <p:nvSpPr>
          <p:cNvPr id="10" name="TextBox 15"/>
          <p:cNvSpPr/>
          <p:nvPr/>
        </p:nvSpPr>
        <p:spPr>
          <a:xfrm>
            <a:off x="863578" y="2178379"/>
            <a:ext cx="2997125" cy="2315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24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Quantize + accelerate</a:t>
            </a:r>
            <a:endParaRPr lang="en-US" sz="1600" dirty="0"/>
          </a:p>
        </p:txBody>
      </p:sp>
      <p:sp>
        <p:nvSpPr>
          <p:cNvPr id="11" name="TextBox 16"/>
          <p:cNvSpPr/>
          <p:nvPr/>
        </p:nvSpPr>
        <p:spPr>
          <a:xfrm>
            <a:off x="863578" y="2498847"/>
            <a:ext cx="2997125" cy="4970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57"/>
              </a:lnSpc>
              <a:buNone/>
            </a:pPr>
            <a:r>
              <a:rPr lang="en-US" sz="1350" dirty="0">
                <a:solidFill>
                  <a:srgbClr val="B9C4D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INT8 / FP16 quantization, TensorRT for edge-device deployment.</a:t>
            </a:r>
            <a:endParaRPr lang="en-US" sz="1350" dirty="0"/>
          </a:p>
        </p:txBody>
      </p:sp>
      <p:sp>
        <p:nvSpPr>
          <p:cNvPr id="12" name="Shape 18"/>
          <p:cNvSpPr/>
          <p:nvPr/>
        </p:nvSpPr>
        <p:spPr>
          <a:xfrm>
            <a:off x="4343291" y="1586951"/>
            <a:ext cx="3505112" cy="1650264"/>
          </a:xfrm>
          <a:prstGeom prst="roundRect">
            <a:avLst>
              <a:gd name="adj" fmla="val 5387"/>
            </a:avLst>
          </a:prstGeom>
          <a:solidFill>
            <a:srgbClr val="12213D"/>
          </a:solidFill>
          <a:ln/>
        </p:spPr>
      </p:sp>
      <p:pic>
        <p:nvPicPr>
          <p:cNvPr id="13" name="Picture 18" descr="__type_imag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3291" y="1586951"/>
            <a:ext cx="3505112" cy="1650264"/>
          </a:xfrm>
          <a:prstGeom prst="rect">
            <a:avLst/>
          </a:prstGeom>
        </p:spPr>
      </p:pic>
      <p:sp>
        <p:nvSpPr>
          <p:cNvPr id="14" name="TextBox 19"/>
          <p:cNvSpPr/>
          <p:nvPr/>
        </p:nvSpPr>
        <p:spPr>
          <a:xfrm>
            <a:off x="4597285" y="1866344"/>
            <a:ext cx="2997125" cy="248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57"/>
              </a:lnSpc>
              <a:buNone/>
            </a:pPr>
            <a:r>
              <a:rPr lang="en-US" sz="1350" b="1" kern="0" spc="162" dirty="0">
                <a:solidFill>
                  <a:srgbClr val="B9C4D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EXPAND</a:t>
            </a:r>
            <a:endParaRPr lang="en-US" sz="1350" dirty="0"/>
          </a:p>
        </p:txBody>
      </p:sp>
      <p:sp>
        <p:nvSpPr>
          <p:cNvPr id="15" name="TextBox 20"/>
          <p:cNvSpPr/>
          <p:nvPr/>
        </p:nvSpPr>
        <p:spPr>
          <a:xfrm>
            <a:off x="4597285" y="2178379"/>
            <a:ext cx="2997125" cy="2315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24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Segment + multi-cam</a:t>
            </a:r>
            <a:endParaRPr lang="en-US" sz="1600" dirty="0"/>
          </a:p>
        </p:txBody>
      </p:sp>
      <p:sp>
        <p:nvSpPr>
          <p:cNvPr id="16" name="TextBox 21"/>
          <p:cNvSpPr/>
          <p:nvPr/>
        </p:nvSpPr>
        <p:spPr>
          <a:xfrm>
            <a:off x="4597285" y="2498847"/>
            <a:ext cx="2997125" cy="4970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57"/>
              </a:lnSpc>
              <a:buNone/>
            </a:pPr>
            <a:r>
              <a:rPr lang="en-US" sz="1350" dirty="0">
                <a:solidFill>
                  <a:srgbClr val="B9C4D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Instance segmentation, multi-camera tracking and re-ID.</a:t>
            </a:r>
            <a:endParaRPr lang="en-US" sz="1350" dirty="0"/>
          </a:p>
        </p:txBody>
      </p:sp>
      <p:sp>
        <p:nvSpPr>
          <p:cNvPr id="17" name="Shape 23"/>
          <p:cNvSpPr/>
          <p:nvPr/>
        </p:nvSpPr>
        <p:spPr>
          <a:xfrm>
            <a:off x="8076998" y="1586951"/>
            <a:ext cx="3505112" cy="1650264"/>
          </a:xfrm>
          <a:prstGeom prst="roundRect">
            <a:avLst>
              <a:gd name="adj" fmla="val 5387"/>
            </a:avLst>
          </a:prstGeom>
          <a:solidFill>
            <a:srgbClr val="12213D"/>
          </a:solidFill>
          <a:ln/>
        </p:spPr>
      </p:sp>
      <p:pic>
        <p:nvPicPr>
          <p:cNvPr id="18" name="Picture 23" descr="__type_imag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76998" y="1586951"/>
            <a:ext cx="3505112" cy="1650264"/>
          </a:xfrm>
          <a:prstGeom prst="rect">
            <a:avLst/>
          </a:prstGeom>
        </p:spPr>
      </p:pic>
      <p:sp>
        <p:nvSpPr>
          <p:cNvPr id="19" name="TextBox 24"/>
          <p:cNvSpPr/>
          <p:nvPr/>
        </p:nvSpPr>
        <p:spPr>
          <a:xfrm>
            <a:off x="8330992" y="1866344"/>
            <a:ext cx="2997125" cy="248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57"/>
              </a:lnSpc>
              <a:buNone/>
            </a:pPr>
            <a:r>
              <a:rPr lang="en-US" sz="1350" b="1" kern="0" spc="162" dirty="0">
                <a:solidFill>
                  <a:srgbClr val="B9C4D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DEPLOY</a:t>
            </a:r>
            <a:endParaRPr lang="en-US" sz="1350" dirty="0"/>
          </a:p>
        </p:txBody>
      </p:sp>
      <p:sp>
        <p:nvSpPr>
          <p:cNvPr id="20" name="TextBox 25"/>
          <p:cNvSpPr/>
          <p:nvPr/>
        </p:nvSpPr>
        <p:spPr>
          <a:xfrm>
            <a:off x="8330992" y="2178379"/>
            <a:ext cx="2997125" cy="2315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24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Docker + microservices</a:t>
            </a:r>
            <a:endParaRPr lang="en-US" sz="1600" dirty="0"/>
          </a:p>
        </p:txBody>
      </p:sp>
      <p:sp>
        <p:nvSpPr>
          <p:cNvPr id="21" name="TextBox 26"/>
          <p:cNvSpPr/>
          <p:nvPr/>
        </p:nvSpPr>
        <p:spPr>
          <a:xfrm>
            <a:off x="8330992" y="2498847"/>
            <a:ext cx="2997125" cy="4970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57"/>
              </a:lnSpc>
              <a:buNone/>
            </a:pPr>
            <a:r>
              <a:rPr lang="en-US" sz="1350" dirty="0">
                <a:solidFill>
                  <a:srgbClr val="B9C4D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Containerize for cloud scale-out and clean APIs.</a:t>
            </a:r>
            <a:endParaRPr lang="en-US" sz="1350" dirty="0"/>
          </a:p>
        </p:txBody>
      </p:sp>
      <p:sp>
        <p:nvSpPr>
          <p:cNvPr id="23" name="TextBox 31"/>
          <p:cNvSpPr/>
          <p:nvPr/>
        </p:nvSpPr>
        <p:spPr>
          <a:xfrm>
            <a:off x="876278" y="3686764"/>
            <a:ext cx="5632408" cy="27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32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1087</Words>
  <Application>Microsoft Office PowerPoint</Application>
  <PresentationFormat>Widescreen</PresentationFormat>
  <Paragraphs>191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Noto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Studio</dc:title>
  <dc:subject>PptxGenJS Presentation</dc:subject>
  <dc:creator/>
  <cp:lastModifiedBy>shivamgupta25122002@outlook.com</cp:lastModifiedBy>
  <cp:revision>2</cp:revision>
  <dcterms:created xsi:type="dcterms:W3CDTF">2026-09-29T14:17:14Z</dcterms:created>
  <dcterms:modified xsi:type="dcterms:W3CDTF">2026-09-29T14:26:06Z</dcterms:modified>
</cp:coreProperties>
</file>